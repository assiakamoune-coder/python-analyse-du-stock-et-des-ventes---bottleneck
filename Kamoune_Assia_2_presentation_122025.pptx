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63" r:id="rId3"/>
    <p:sldId id="257" r:id="rId4"/>
    <p:sldId id="264" r:id="rId5"/>
    <p:sldId id="265" r:id="rId6"/>
    <p:sldId id="258" r:id="rId7"/>
    <p:sldId id="266" r:id="rId8"/>
    <p:sldId id="259" r:id="rId9"/>
    <p:sldId id="268" r:id="rId10"/>
    <p:sldId id="277" r:id="rId11"/>
    <p:sldId id="269" r:id="rId12"/>
    <p:sldId id="260" r:id="rId13"/>
    <p:sldId id="270" r:id="rId14"/>
    <p:sldId id="271" r:id="rId15"/>
    <p:sldId id="278" r:id="rId16"/>
    <p:sldId id="272" r:id="rId17"/>
    <p:sldId id="273" r:id="rId18"/>
    <p:sldId id="279" r:id="rId19"/>
    <p:sldId id="274" r:id="rId20"/>
    <p:sldId id="280" r:id="rId21"/>
    <p:sldId id="275" r:id="rId22"/>
    <p:sldId id="276" r:id="rId23"/>
    <p:sldId id="281" r:id="rId24"/>
    <p:sldId id="261" r:id="rId25"/>
    <p:sldId id="262" r:id="rId26"/>
  </p:sldIdLst>
  <p:sldSz cx="9144000" cy="5143500" type="screen16x9"/>
  <p:notesSz cx="6858000" cy="9144000"/>
  <p:embeddedFontLst>
    <p:embeddedFont>
      <p:font typeface="Montserrat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-822" y="-90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343700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66601" y="815248"/>
            <a:ext cx="7423214" cy="1412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fr-FR" sz="2800" b="1" dirty="0">
                <a:solidFill>
                  <a:schemeClr val="bg1"/>
                </a:solidFill>
              </a:rPr>
              <a:t>Optimisez la gestion &amp; nettoyez les données du stock d'une </a:t>
            </a:r>
            <a:r>
              <a:rPr lang="fr-FR" sz="2800" b="1" dirty="0" smtClean="0">
                <a:solidFill>
                  <a:schemeClr val="bg1"/>
                </a:solidFill>
              </a:rPr>
              <a:t>boutique</a:t>
            </a:r>
          </a:p>
          <a:p>
            <a:pPr algn="ctr"/>
            <a:r>
              <a:rPr lang="fr-FR" sz="2600" dirty="0" err="1" smtClean="0">
                <a:solidFill>
                  <a:schemeClr val="bg1"/>
                </a:solidFill>
              </a:rPr>
              <a:t>Bottleneck</a:t>
            </a:r>
            <a:endParaRPr lang="fr-FR" sz="2600" dirty="0">
              <a:solidFill>
                <a:schemeClr val="bg1"/>
              </a:solidFill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282135" y="2979220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b="1" dirty="0" smtClean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KAMOUNE Assia</a:t>
            </a:r>
            <a:endParaRPr sz="2000" b="1" i="0" u="none" strike="noStrike" cap="none" dirty="0">
              <a:solidFill>
                <a:schemeClr val="lt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767771" y="3495345"/>
            <a:ext cx="4527933" cy="823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b="1" i="0" u="none" strike="noStrike" cap="none" dirty="0" smtClean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Data Analyst/Business Intelligence Analyst</a:t>
            </a:r>
            <a:endParaRPr sz="2000" b="1" i="0" u="none" strike="noStrike" cap="none" dirty="0">
              <a:solidFill>
                <a:schemeClr val="lt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175755" y="426617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b="1" i="0" u="none" strike="noStrike" cap="none" dirty="0" smtClean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03/12/2025</a:t>
            </a:r>
            <a:endParaRPr sz="2000" b="1" i="0" u="none" strike="noStrike" cap="none" dirty="0">
              <a:solidFill>
                <a:schemeClr val="lt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26265" y="2005070"/>
            <a:ext cx="7414352" cy="1784732"/>
          </a:xfrm>
        </p:spPr>
        <p:txBody>
          <a:bodyPr>
            <a:noAutofit/>
          </a:bodyPr>
          <a:lstStyle/>
          <a:p>
            <a:pPr algn="just"/>
            <a:r>
              <a:rPr lang="fr-FR" dirty="0">
                <a:solidFill>
                  <a:schemeClr val="tx1"/>
                </a:solidFill>
              </a:rPr>
              <a:t>Objectif principal : Fiabiliser les données </a:t>
            </a:r>
            <a:r>
              <a:rPr lang="fr-FR" dirty="0" smtClean="0">
                <a:solidFill>
                  <a:schemeClr val="tx1"/>
                </a:solidFill>
              </a:rPr>
              <a:t>de </a:t>
            </a:r>
            <a:r>
              <a:rPr lang="fr-FR" dirty="0" err="1" smtClean="0">
                <a:solidFill>
                  <a:schemeClr val="tx1"/>
                </a:solidFill>
              </a:rPr>
              <a:t>Bottleneck</a:t>
            </a:r>
            <a:r>
              <a:rPr lang="fr-FR" dirty="0" smtClean="0">
                <a:solidFill>
                  <a:schemeClr val="tx1"/>
                </a:solidFill>
              </a:rPr>
              <a:t> avant </a:t>
            </a:r>
            <a:r>
              <a:rPr lang="fr-FR" dirty="0">
                <a:solidFill>
                  <a:schemeClr val="tx1"/>
                </a:solidFill>
              </a:rPr>
              <a:t>intégration </a:t>
            </a:r>
            <a:r>
              <a:rPr lang="fr-FR" dirty="0" smtClean="0">
                <a:solidFill>
                  <a:schemeClr val="tx1"/>
                </a:solidFill>
              </a:rPr>
              <a:t>ERP</a:t>
            </a:r>
          </a:p>
          <a:p>
            <a:pPr algn="just"/>
            <a:r>
              <a:rPr lang="fr-FR" dirty="0">
                <a:solidFill>
                  <a:schemeClr val="tx1"/>
                </a:solidFill>
              </a:rPr>
              <a:t>Données analysées : </a:t>
            </a:r>
            <a:r>
              <a:rPr lang="fr-FR" dirty="0" smtClean="0">
                <a:solidFill>
                  <a:schemeClr val="tx1"/>
                </a:solidFill>
              </a:rPr>
              <a:t>Ventes</a:t>
            </a:r>
            <a:r>
              <a:rPr lang="fr-FR" dirty="0">
                <a:solidFill>
                  <a:schemeClr val="tx1"/>
                </a:solidFill>
              </a:rPr>
              <a:t>, stocks, </a:t>
            </a:r>
            <a:r>
              <a:rPr lang="fr-FR" dirty="0" smtClean="0">
                <a:solidFill>
                  <a:schemeClr val="tx1"/>
                </a:solidFill>
              </a:rPr>
              <a:t>produits</a:t>
            </a:r>
          </a:p>
          <a:p>
            <a:pPr algn="just"/>
            <a:r>
              <a:rPr lang="fr-FR" dirty="0" smtClean="0">
                <a:solidFill>
                  <a:schemeClr val="tx1"/>
                </a:solidFill>
              </a:rPr>
              <a:t>Enjeux </a:t>
            </a:r>
            <a:r>
              <a:rPr lang="fr-FR" dirty="0">
                <a:solidFill>
                  <a:schemeClr val="tx1"/>
                </a:solidFill>
              </a:rPr>
              <a:t>: </a:t>
            </a:r>
            <a:r>
              <a:rPr lang="fr-FR" dirty="0" smtClean="0">
                <a:solidFill>
                  <a:schemeClr val="tx1"/>
                </a:solidFill>
              </a:rPr>
              <a:t>Pilotage </a:t>
            </a:r>
            <a:r>
              <a:rPr lang="fr-FR" dirty="0">
                <a:solidFill>
                  <a:schemeClr val="tx1"/>
                </a:solidFill>
              </a:rPr>
              <a:t>du CA, optimisation des stocks, conformité réglementaire</a:t>
            </a:r>
          </a:p>
          <a:p>
            <a:pPr algn="just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Google Shape;64;p4"/>
          <p:cNvSpPr/>
          <p:nvPr/>
        </p:nvSpPr>
        <p:spPr>
          <a:xfrm>
            <a:off x="0" y="0"/>
            <a:ext cx="9144000" cy="892366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fr-FR" sz="2400" b="1" dirty="0">
                <a:solidFill>
                  <a:schemeClr val="bg1"/>
                </a:solidFill>
              </a:rPr>
              <a:t>Contexte &amp; Objectifs</a:t>
            </a:r>
            <a:endParaRPr sz="2400" b="1" i="0" u="none" strike="noStrike" cap="none" dirty="0">
              <a:solidFill>
                <a:srgbClr val="000000"/>
              </a:solidFill>
              <a:highlight>
                <a:srgbClr val="B6D7A8"/>
              </a:highlight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767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418641" y="1178805"/>
            <a:ext cx="8372819" cy="3790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b="1" dirty="0">
                <a:solidFill>
                  <a:schemeClr val="tx1"/>
                </a:solidFill>
                <a:latin typeface="+mj-lt"/>
              </a:rPr>
              <a:t>DATASETS </a:t>
            </a:r>
            <a:r>
              <a:rPr lang="fr-FR" sz="1400" b="1" dirty="0" smtClean="0">
                <a:solidFill>
                  <a:schemeClr val="tx1"/>
                </a:solidFill>
                <a:latin typeface="+mj-lt"/>
              </a:rPr>
              <a:t>UTILISÉS:</a:t>
            </a:r>
          </a:p>
          <a:p>
            <a:pPr marL="114300" indent="0">
              <a:buNone/>
            </a:pPr>
            <a:endParaRPr lang="fr-FR" sz="1400" b="1" dirty="0">
              <a:solidFill>
                <a:schemeClr val="tx1"/>
              </a:solidFill>
              <a:latin typeface="+mj-lt"/>
            </a:endParaRPr>
          </a:p>
          <a:p>
            <a:pPr marL="114300" indent="0">
              <a:buNone/>
            </a:pPr>
            <a:r>
              <a:rPr lang="fr-FR" sz="1400" dirty="0">
                <a:solidFill>
                  <a:schemeClr val="tx1"/>
                </a:solidFill>
                <a:latin typeface="+mj-lt"/>
              </a:rPr>
              <a:t>Nous avons exploité un </a:t>
            </a:r>
            <a:r>
              <a:rPr lang="fr-FR" sz="1400" b="1" dirty="0">
                <a:solidFill>
                  <a:schemeClr val="tx1"/>
                </a:solidFill>
                <a:latin typeface="+mj-lt"/>
              </a:rPr>
              <a:t>jeu de données consolidé issu de plusieurs sources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 :</a:t>
            </a:r>
          </a:p>
          <a:p>
            <a:pPr marL="114300" indent="0">
              <a:buNone/>
            </a:pPr>
            <a:r>
              <a:rPr lang="fr-FR" sz="1400" dirty="0">
                <a:solidFill>
                  <a:schemeClr val="tx1"/>
                </a:solidFill>
                <a:latin typeface="+mj-lt"/>
              </a:rPr>
              <a:t>Fichier </a:t>
            </a:r>
            <a:r>
              <a:rPr lang="fr-FR" sz="1400" b="1" dirty="0" err="1" smtClean="0">
                <a:solidFill>
                  <a:schemeClr val="tx1"/>
                </a:solidFill>
                <a:latin typeface="+mj-lt"/>
              </a:rPr>
              <a:t>erp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, Fichier </a:t>
            </a:r>
            <a:r>
              <a:rPr lang="fr-FR" sz="1400" b="1" dirty="0" smtClean="0">
                <a:solidFill>
                  <a:schemeClr val="tx1"/>
                </a:solidFill>
                <a:latin typeface="+mj-lt"/>
              </a:rPr>
              <a:t>web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, Fichier </a:t>
            </a:r>
            <a:r>
              <a:rPr lang="fr-FR" sz="1400" b="1" dirty="0" smtClean="0">
                <a:solidFill>
                  <a:schemeClr val="tx1"/>
                </a:solidFill>
                <a:latin typeface="+mj-lt"/>
              </a:rPr>
              <a:t>liaison,</a:t>
            </a:r>
          </a:p>
          <a:p>
            <a:pPr marL="114300" indent="0">
              <a:buNone/>
              <a:tabLst>
                <a:tab pos="6456363" algn="l"/>
              </a:tabLst>
            </a:pPr>
            <a:r>
              <a:rPr lang="fr-FR" sz="1400" dirty="0">
                <a:solidFill>
                  <a:schemeClr val="tx1"/>
                </a:solidFill>
                <a:latin typeface="+mj-lt"/>
              </a:rPr>
              <a:t>Après traitement, ces sources ont été fusionnées dans un </a:t>
            </a:r>
            <a:r>
              <a:rPr lang="fr-FR" sz="1400" b="1" dirty="0" err="1">
                <a:solidFill>
                  <a:schemeClr val="tx1"/>
                </a:solidFill>
                <a:latin typeface="+mj-lt"/>
              </a:rPr>
              <a:t>dataset</a:t>
            </a:r>
            <a:r>
              <a:rPr lang="fr-FR" sz="1400" b="1" dirty="0">
                <a:solidFill>
                  <a:schemeClr val="tx1"/>
                </a:solidFill>
                <a:latin typeface="+mj-lt"/>
              </a:rPr>
              <a:t> unique de </a:t>
            </a:r>
            <a:r>
              <a:rPr lang="fr-FR" sz="1400" b="1" dirty="0" smtClean="0">
                <a:solidFill>
                  <a:schemeClr val="tx1"/>
                </a:solidFill>
                <a:latin typeface="+mj-lt"/>
              </a:rPr>
              <a:t>travail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 (df_merge_sorted.xlsx).</a:t>
            </a:r>
          </a:p>
          <a:p>
            <a:pPr marL="114300" indent="0">
              <a:buNone/>
              <a:tabLst>
                <a:tab pos="6456363" algn="l"/>
              </a:tabLst>
            </a:pPr>
            <a:endParaRPr lang="fr-FR" sz="1400" dirty="0" smtClean="0">
              <a:solidFill>
                <a:schemeClr val="tx1"/>
              </a:solidFill>
              <a:latin typeface="+mj-lt"/>
            </a:endParaRPr>
          </a:p>
          <a:p>
            <a:pPr>
              <a:tabLst>
                <a:tab pos="6456363" algn="l"/>
              </a:tabLst>
            </a:pPr>
            <a:r>
              <a:rPr lang="fr" sz="1400" b="1" dirty="0" smtClean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Caractéristiques</a:t>
            </a:r>
            <a:endParaRPr lang="fr-FR" sz="1400" dirty="0" smtClean="0">
              <a:solidFill>
                <a:schemeClr val="tx1"/>
              </a:solidFill>
              <a:latin typeface="+mj-lt"/>
            </a:endParaRPr>
          </a:p>
          <a:p>
            <a:pPr marL="11430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400" dirty="0" smtClean="0">
              <a:solidFill>
                <a:schemeClr val="tx1"/>
              </a:solidFill>
              <a:latin typeface="+mj-lt"/>
            </a:endParaRPr>
          </a:p>
          <a:p>
            <a:pPr marL="11430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Le </a:t>
            </a:r>
            <a:r>
              <a:rPr lang="fr-FR" sz="1400" dirty="0" err="1">
                <a:solidFill>
                  <a:schemeClr val="tx1"/>
                </a:solidFill>
                <a:latin typeface="+mj-lt"/>
              </a:rPr>
              <a:t>dataset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 final comporte principalement 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:</a:t>
            </a:r>
          </a:p>
          <a:p>
            <a:pPr marL="11430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Identifiants 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produits (</a:t>
            </a:r>
            <a:r>
              <a:rPr lang="fr-FR" sz="1400" dirty="0" err="1">
                <a:solidFill>
                  <a:schemeClr val="tx1"/>
                </a:solidFill>
                <a:latin typeface="+mj-lt"/>
              </a:rPr>
              <a:t>product_id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),  Prix 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de vente (</a:t>
            </a:r>
            <a:r>
              <a:rPr lang="fr-FR" sz="1400" dirty="0" err="1">
                <a:solidFill>
                  <a:schemeClr val="tx1"/>
                </a:solidFill>
                <a:latin typeface="+mj-lt"/>
              </a:rPr>
              <a:t>price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, </a:t>
            </a:r>
            <a:r>
              <a:rPr lang="fr-FR" sz="1400" dirty="0" err="1">
                <a:solidFill>
                  <a:schemeClr val="tx1"/>
                </a:solidFill>
                <a:latin typeface="+mj-lt"/>
              </a:rPr>
              <a:t>prix_HT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), Prix 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d’achat (</a:t>
            </a:r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purchase_price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), Quantités 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vendues (</a:t>
            </a:r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total_sales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),Stocks 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(</a:t>
            </a:r>
            <a:r>
              <a:rPr lang="fr-FR" sz="1400" dirty="0" err="1">
                <a:solidFill>
                  <a:schemeClr val="tx1"/>
                </a:solidFill>
                <a:latin typeface="+mj-lt"/>
              </a:rPr>
              <a:t>stock_quantity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, </a:t>
            </a:r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stock_status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), Chiffre 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d’affaires (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CA), Taux 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de marge (</a:t>
            </a:r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taux_marge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), Valorisation 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des stocks (</a:t>
            </a:r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valorisation_stock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),Indicateurs 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de part de ventes (</a:t>
            </a:r>
            <a:r>
              <a:rPr lang="fr-FR" sz="1400" dirty="0" err="1">
                <a:solidFill>
                  <a:schemeClr val="tx1"/>
                </a:solidFill>
                <a:latin typeface="+mj-lt"/>
              </a:rPr>
              <a:t>part_quantite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, </a:t>
            </a:r>
            <a:r>
              <a:rPr lang="fr-FR" sz="1400" dirty="0" err="1">
                <a:solidFill>
                  <a:schemeClr val="tx1"/>
                </a:solidFill>
                <a:latin typeface="+mj-lt"/>
              </a:rPr>
              <a:t>part_quantite_cum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)</a:t>
            </a:r>
            <a:endParaRPr lang="fr-FR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90995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168625"/>
            <a:ext cx="703662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800" b="1" i="0" u="none" strike="noStrike" cap="none" dirty="0">
                <a:solidFill>
                  <a:srgbClr val="F3F3F3"/>
                </a:solidFill>
                <a:latin typeface="+mj-l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800" b="1" dirty="0">
                <a:solidFill>
                  <a:srgbClr val="F3F3F3"/>
                </a:solidFill>
                <a:latin typeface="+mj-l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800" b="1" i="0" u="none" strike="noStrike" cap="none" dirty="0">
                <a:solidFill>
                  <a:srgbClr val="F3F3F3"/>
                </a:solidFill>
                <a:latin typeface="+mj-l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800" b="1" i="0" u="none" strike="noStrike" cap="none" dirty="0">
              <a:solidFill>
                <a:srgbClr val="F3F3F3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30341" y="1020272"/>
            <a:ext cx="7135702" cy="3716981"/>
          </a:xfrm>
        </p:spPr>
        <p:txBody>
          <a:bodyPr>
            <a:noAutofit/>
          </a:bodyPr>
          <a:lstStyle/>
          <a:p>
            <a:pPr marL="114300" lvl="0" indent="0">
              <a:buClr>
                <a:srgbClr val="999999"/>
              </a:buClr>
              <a:buNone/>
            </a:pPr>
            <a:r>
              <a:rPr lang="fr-FR" sz="1600" b="1" dirty="0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Traitement </a:t>
            </a:r>
            <a:r>
              <a:rPr lang="fr-FR" sz="1600" b="1" dirty="0" smtClean="0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réalisés:</a:t>
            </a:r>
          </a:p>
          <a:p>
            <a:r>
              <a:rPr lang="fr-FR" sz="1500" dirty="0">
                <a:solidFill>
                  <a:schemeClr val="tx1"/>
                </a:solidFill>
              </a:rPr>
              <a:t>Fusion des fichiers produits, ventes et stocks</a:t>
            </a:r>
          </a:p>
          <a:p>
            <a:r>
              <a:rPr lang="fr-FR" sz="1500" dirty="0">
                <a:solidFill>
                  <a:schemeClr val="tx1"/>
                </a:solidFill>
              </a:rPr>
              <a:t>Harmonisation des types de données (</a:t>
            </a:r>
            <a:r>
              <a:rPr lang="fr-FR" sz="1500" dirty="0" err="1">
                <a:solidFill>
                  <a:schemeClr val="tx1"/>
                </a:solidFill>
              </a:rPr>
              <a:t>float</a:t>
            </a:r>
            <a:r>
              <a:rPr lang="fr-FR" sz="1500" dirty="0">
                <a:solidFill>
                  <a:schemeClr val="tx1"/>
                </a:solidFill>
              </a:rPr>
              <a:t>, </a:t>
            </a:r>
            <a:r>
              <a:rPr lang="fr-FR" sz="1500" dirty="0" err="1">
                <a:solidFill>
                  <a:schemeClr val="tx1"/>
                </a:solidFill>
              </a:rPr>
              <a:t>integer</a:t>
            </a:r>
            <a:r>
              <a:rPr lang="fr-FR" sz="1500" dirty="0">
                <a:solidFill>
                  <a:schemeClr val="tx1"/>
                </a:solidFill>
              </a:rPr>
              <a:t>, date)</a:t>
            </a:r>
          </a:p>
          <a:p>
            <a:r>
              <a:rPr lang="fr-FR" sz="1500" dirty="0">
                <a:solidFill>
                  <a:schemeClr val="tx1"/>
                </a:solidFill>
              </a:rPr>
              <a:t>Standardisation des noms de colonnes</a:t>
            </a:r>
          </a:p>
          <a:p>
            <a:r>
              <a:rPr lang="fr-FR" sz="1500" dirty="0">
                <a:solidFill>
                  <a:schemeClr val="tx1"/>
                </a:solidFill>
              </a:rPr>
              <a:t>Tri des données par volume de ventes et CA</a:t>
            </a:r>
          </a:p>
          <a:p>
            <a:r>
              <a:rPr lang="fr-FR" sz="1500" dirty="0">
                <a:solidFill>
                  <a:schemeClr val="tx1"/>
                </a:solidFill>
              </a:rPr>
              <a:t>Création d’indicateurs de </a:t>
            </a:r>
            <a:r>
              <a:rPr lang="fr-FR" sz="1500" dirty="0" smtClean="0">
                <a:solidFill>
                  <a:schemeClr val="tx1"/>
                </a:solidFill>
              </a:rPr>
              <a:t>performance</a:t>
            </a:r>
          </a:p>
          <a:p>
            <a:pPr marL="114300" indent="0">
              <a:buNone/>
            </a:pPr>
            <a:endParaRPr lang="fr-FR" sz="1600" b="1" dirty="0">
              <a:solidFill>
                <a:schemeClr val="tx1"/>
              </a:solidFill>
              <a:ea typeface="Montserrat"/>
              <a:cs typeface="Montserrat"/>
              <a:sym typeface="Montserrat"/>
            </a:endParaRPr>
          </a:p>
          <a:p>
            <a:pPr marL="114300" indent="0">
              <a:buNone/>
            </a:pPr>
            <a:r>
              <a:rPr lang="fr-FR" sz="1600" b="1" dirty="0" smtClean="0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Nettoyages </a:t>
            </a:r>
            <a:r>
              <a:rPr lang="fr-FR" sz="1600" b="1" dirty="0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des </a:t>
            </a:r>
            <a:r>
              <a:rPr lang="fr-FR" sz="1600" b="1" dirty="0" smtClean="0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données:</a:t>
            </a:r>
          </a:p>
          <a:p>
            <a:r>
              <a:rPr lang="fr-FR" sz="1500" dirty="0">
                <a:solidFill>
                  <a:schemeClr val="tx1"/>
                </a:solidFill>
              </a:rPr>
              <a:t>Suppression des </a:t>
            </a:r>
            <a:r>
              <a:rPr lang="fr-FR" sz="1500" b="1" dirty="0">
                <a:solidFill>
                  <a:schemeClr val="tx1"/>
                </a:solidFill>
              </a:rPr>
              <a:t>doublons produits</a:t>
            </a:r>
            <a:endParaRPr lang="fr-FR" sz="1500" dirty="0">
              <a:solidFill>
                <a:schemeClr val="tx1"/>
              </a:solidFill>
            </a:endParaRPr>
          </a:p>
          <a:p>
            <a:r>
              <a:rPr lang="fr-FR" sz="1500" dirty="0">
                <a:solidFill>
                  <a:schemeClr val="tx1"/>
                </a:solidFill>
              </a:rPr>
              <a:t>Correction des </a:t>
            </a:r>
            <a:r>
              <a:rPr lang="fr-FR" sz="1500" b="1" dirty="0">
                <a:solidFill>
                  <a:schemeClr val="tx1"/>
                </a:solidFill>
              </a:rPr>
              <a:t>prix négatifs ou aberrants</a:t>
            </a:r>
            <a:endParaRPr lang="fr-FR" sz="1500" dirty="0">
              <a:solidFill>
                <a:schemeClr val="tx1"/>
              </a:solidFill>
            </a:endParaRPr>
          </a:p>
          <a:p>
            <a:r>
              <a:rPr lang="fr-FR" sz="1500" dirty="0">
                <a:solidFill>
                  <a:schemeClr val="tx1"/>
                </a:solidFill>
              </a:rPr>
              <a:t>Traitement des </a:t>
            </a:r>
            <a:r>
              <a:rPr lang="fr-FR" sz="1500" b="1" dirty="0">
                <a:solidFill>
                  <a:schemeClr val="tx1"/>
                </a:solidFill>
              </a:rPr>
              <a:t>valeurs manquantes</a:t>
            </a:r>
            <a:endParaRPr lang="fr-FR" sz="1500" dirty="0">
              <a:solidFill>
                <a:schemeClr val="tx1"/>
              </a:solidFill>
            </a:endParaRPr>
          </a:p>
          <a:p>
            <a:r>
              <a:rPr lang="fr-FR" sz="1500" dirty="0">
                <a:solidFill>
                  <a:schemeClr val="tx1"/>
                </a:solidFill>
              </a:rPr>
              <a:t>Suppression de lignes contenant des incohérences critiques</a:t>
            </a:r>
          </a:p>
          <a:p>
            <a:r>
              <a:rPr lang="fr-FR" sz="1500" dirty="0">
                <a:solidFill>
                  <a:schemeClr val="tx1"/>
                </a:solidFill>
              </a:rPr>
              <a:t>Correction des </a:t>
            </a:r>
            <a:r>
              <a:rPr lang="fr-FR" sz="1500" b="1" dirty="0">
                <a:solidFill>
                  <a:schemeClr val="tx1"/>
                </a:solidFill>
              </a:rPr>
              <a:t>stocks </a:t>
            </a:r>
            <a:r>
              <a:rPr lang="fr-FR" sz="1500" b="1" dirty="0" smtClean="0">
                <a:solidFill>
                  <a:schemeClr val="tx1"/>
                </a:solidFill>
              </a:rPr>
              <a:t>négatifs</a:t>
            </a:r>
            <a:endParaRPr lang="fr-FR" sz="1500" dirty="0">
              <a:solidFill>
                <a:schemeClr val="tx1"/>
              </a:solidFill>
            </a:endParaRPr>
          </a:p>
        </p:txBody>
      </p:sp>
      <p:sp>
        <p:nvSpPr>
          <p:cNvPr id="4" name="Google Shape;64;p4"/>
          <p:cNvSpPr/>
          <p:nvPr/>
        </p:nvSpPr>
        <p:spPr>
          <a:xfrm>
            <a:off x="0" y="0"/>
            <a:ext cx="9144000" cy="80423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400"/>
            </a:pPr>
            <a:r>
              <a:rPr lang="fr-FR" sz="2800" b="1" dirty="0">
                <a:solidFill>
                  <a:srgbClr val="F3F3F3"/>
                </a:solidFill>
                <a:latin typeface="+mj-l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0"/>
                  </a:ext>
                </a:extLst>
              </a:rPr>
              <a:t>Analyses </a:t>
            </a:r>
            <a:r>
              <a:rPr lang="fr-FR" sz="2800" b="1" dirty="0">
                <a:solidFill>
                  <a:srgbClr val="F3F3F3"/>
                </a:solidFill>
                <a:latin typeface="+mj-l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"/>
                  </a:ext>
                </a:extLst>
              </a:rPr>
              <a:t>Exploratoires</a:t>
            </a:r>
            <a:r>
              <a:rPr lang="fr-FR" sz="2800" b="1" dirty="0">
                <a:solidFill>
                  <a:srgbClr val="F3F3F3"/>
                </a:solidFill>
                <a:latin typeface="+mj-l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2"/>
                  </a:ext>
                </a:extLst>
              </a:rPr>
              <a:t> des Données </a:t>
            </a:r>
            <a:endParaRPr lang="fr-FR" sz="2800" b="1" dirty="0">
              <a:solidFill>
                <a:srgbClr val="F3F3F3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8732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11700" y="925416"/>
            <a:ext cx="8520600" cy="4032173"/>
          </a:xfrm>
        </p:spPr>
        <p:txBody>
          <a:bodyPr>
            <a:noAutofit/>
          </a:bodyPr>
          <a:lstStyle/>
          <a:p>
            <a:pPr marL="452438" lvl="1" indent="-276225">
              <a:buClr>
                <a:srgbClr val="999999"/>
              </a:buClr>
              <a:buFont typeface="Wingdings" panose="05000000000000000000" pitchFamily="2" charset="2"/>
              <a:buChar char="Ø"/>
            </a:pPr>
            <a:r>
              <a:rPr lang="fr-FR" sz="1600" b="1" dirty="0" err="1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Features</a:t>
            </a:r>
            <a:r>
              <a:rPr lang="fr-FR" sz="1600" b="1" dirty="0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 </a:t>
            </a:r>
            <a:r>
              <a:rPr lang="fr-FR" sz="1600" b="1" dirty="0" smtClean="0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engineering:</a:t>
            </a:r>
          </a:p>
          <a:p>
            <a:pPr marL="452438" lvl="1" indent="-276225">
              <a:buClr>
                <a:srgbClr val="999999"/>
              </a:buClr>
              <a:buFont typeface="Wingdings" panose="05000000000000000000" pitchFamily="2" charset="2"/>
              <a:buChar char="Ø"/>
            </a:pPr>
            <a:endParaRPr lang="fr-FR" sz="1600" b="1" dirty="0">
              <a:solidFill>
                <a:schemeClr val="tx1"/>
              </a:solidFill>
              <a:ea typeface="Montserrat"/>
              <a:cs typeface="Montserrat"/>
              <a:sym typeface="Montserrat"/>
            </a:endParaRPr>
          </a:p>
          <a:p>
            <a:pPr marL="114300" indent="0">
              <a:buNone/>
            </a:pPr>
            <a:r>
              <a:rPr lang="fr-FR" sz="1500" dirty="0">
                <a:solidFill>
                  <a:schemeClr val="tx1"/>
                </a:solidFill>
              </a:rPr>
              <a:t>Nous avons calculé plusieurs indicateurs clés </a:t>
            </a:r>
            <a:r>
              <a:rPr lang="fr-FR" sz="1500" dirty="0" smtClean="0">
                <a:solidFill>
                  <a:schemeClr val="tx1"/>
                </a:solidFill>
              </a:rPr>
              <a:t>:</a:t>
            </a:r>
            <a:endParaRPr lang="fr-FR" sz="1500" dirty="0">
              <a:solidFill>
                <a:schemeClr val="tx1"/>
              </a:solidFill>
            </a:endParaRPr>
          </a:p>
          <a:p>
            <a:r>
              <a:rPr lang="fr-FR" sz="1500" b="1" dirty="0">
                <a:solidFill>
                  <a:schemeClr val="tx1"/>
                </a:solidFill>
              </a:rPr>
              <a:t>Chiffre </a:t>
            </a:r>
            <a:r>
              <a:rPr lang="fr-FR" sz="1500" b="1" dirty="0" smtClean="0">
                <a:solidFill>
                  <a:schemeClr val="tx1"/>
                </a:solidFill>
              </a:rPr>
              <a:t>d’affaires </a:t>
            </a:r>
            <a:r>
              <a:rPr lang="fr-FR" sz="1500" dirty="0" smtClean="0">
                <a:solidFill>
                  <a:schemeClr val="tx1"/>
                </a:solidFill>
              </a:rPr>
              <a:t>= </a:t>
            </a:r>
            <a:r>
              <a:rPr lang="fr-FR" sz="1500" dirty="0">
                <a:solidFill>
                  <a:schemeClr val="tx1"/>
                </a:solidFill>
              </a:rPr>
              <a:t>prix × quantités vendues</a:t>
            </a:r>
          </a:p>
          <a:p>
            <a:r>
              <a:rPr lang="fr-FR" sz="1500" b="1" dirty="0">
                <a:solidFill>
                  <a:schemeClr val="tx1"/>
                </a:solidFill>
              </a:rPr>
              <a:t>Taux de </a:t>
            </a:r>
            <a:r>
              <a:rPr lang="fr-FR" sz="1500" b="1" dirty="0" smtClean="0">
                <a:solidFill>
                  <a:schemeClr val="tx1"/>
                </a:solidFill>
              </a:rPr>
              <a:t>marge </a:t>
            </a:r>
            <a:r>
              <a:rPr lang="fr-FR" sz="1500" dirty="0" smtClean="0">
                <a:solidFill>
                  <a:schemeClr val="tx1"/>
                </a:solidFill>
              </a:rPr>
              <a:t>= (</a:t>
            </a:r>
            <a:r>
              <a:rPr lang="fr-FR" sz="1500" dirty="0" err="1" smtClean="0">
                <a:solidFill>
                  <a:schemeClr val="tx1"/>
                </a:solidFill>
              </a:rPr>
              <a:t>prix_HT-purchase_price</a:t>
            </a:r>
            <a:r>
              <a:rPr lang="fr-FR" sz="1500" dirty="0">
                <a:solidFill>
                  <a:schemeClr val="tx1"/>
                </a:solidFill>
              </a:rPr>
              <a:t>)/</a:t>
            </a:r>
            <a:r>
              <a:rPr lang="fr-FR" sz="1500" dirty="0" err="1" smtClean="0">
                <a:solidFill>
                  <a:schemeClr val="tx1"/>
                </a:solidFill>
              </a:rPr>
              <a:t>prix_HT</a:t>
            </a:r>
            <a:endParaRPr lang="fr-FR" sz="1500" dirty="0">
              <a:solidFill>
                <a:schemeClr val="tx1"/>
              </a:solidFill>
            </a:endParaRPr>
          </a:p>
          <a:p>
            <a:r>
              <a:rPr lang="fr-FR" sz="1500" b="1" dirty="0" smtClean="0">
                <a:solidFill>
                  <a:schemeClr val="tx1"/>
                </a:solidFill>
              </a:rPr>
              <a:t>Valorisation </a:t>
            </a:r>
            <a:r>
              <a:rPr lang="fr-FR" sz="1500" b="1" dirty="0">
                <a:solidFill>
                  <a:schemeClr val="tx1"/>
                </a:solidFill>
              </a:rPr>
              <a:t>du stock </a:t>
            </a:r>
            <a:r>
              <a:rPr lang="fr-FR" sz="1500" dirty="0">
                <a:solidFill>
                  <a:schemeClr val="tx1"/>
                </a:solidFill>
              </a:rPr>
              <a:t>= </a:t>
            </a:r>
            <a:r>
              <a:rPr lang="fr-FR" sz="1500" dirty="0" smtClean="0">
                <a:solidFill>
                  <a:schemeClr val="tx1"/>
                </a:solidFill>
              </a:rPr>
              <a:t>stock </a:t>
            </a:r>
            <a:r>
              <a:rPr lang="fr-FR" sz="1500" dirty="0">
                <a:solidFill>
                  <a:schemeClr val="tx1"/>
                </a:solidFill>
              </a:rPr>
              <a:t>× prix d’achat</a:t>
            </a:r>
          </a:p>
          <a:p>
            <a:r>
              <a:rPr lang="fr-FR" sz="1500" b="1" dirty="0">
                <a:solidFill>
                  <a:schemeClr val="tx1"/>
                </a:solidFill>
              </a:rPr>
              <a:t>Part de chaque produit dans les ventes </a:t>
            </a:r>
            <a:r>
              <a:rPr lang="fr-FR" sz="1500" b="1" dirty="0" smtClean="0">
                <a:solidFill>
                  <a:schemeClr val="tx1"/>
                </a:solidFill>
              </a:rPr>
              <a:t>totales</a:t>
            </a:r>
          </a:p>
          <a:p>
            <a:endParaRPr lang="fr-FR" sz="1500" b="1" dirty="0">
              <a:solidFill>
                <a:schemeClr val="tx1"/>
              </a:solidFill>
              <a:ea typeface="Montserrat"/>
              <a:cs typeface="Montserrat"/>
              <a:sym typeface="Montserra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1600" b="1" dirty="0" smtClean="0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Remarques </a:t>
            </a:r>
            <a:r>
              <a:rPr lang="fr-FR" sz="1600" b="1" dirty="0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éventuelles, pièges ou difficultés </a:t>
            </a:r>
            <a:r>
              <a:rPr lang="fr-FR" sz="1600" b="1" dirty="0" smtClean="0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rencontrées: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1600" b="1" dirty="0" smtClean="0">
              <a:solidFill>
                <a:schemeClr val="tx1"/>
              </a:solidFill>
              <a:ea typeface="Montserrat"/>
              <a:cs typeface="Montserrat"/>
              <a:sym typeface="Montserrat"/>
            </a:endParaRPr>
          </a:p>
          <a:p>
            <a:r>
              <a:rPr lang="fr-FR" sz="1500" dirty="0" smtClean="0">
                <a:solidFill>
                  <a:schemeClr val="tx1"/>
                </a:solidFill>
              </a:rPr>
              <a:t>Noms </a:t>
            </a:r>
            <a:r>
              <a:rPr lang="fr-FR" sz="1500" dirty="0">
                <a:solidFill>
                  <a:schemeClr val="tx1"/>
                </a:solidFill>
              </a:rPr>
              <a:t>de produits non uniformisés</a:t>
            </a:r>
          </a:p>
          <a:p>
            <a:r>
              <a:rPr lang="fr-FR" sz="1500" dirty="0">
                <a:solidFill>
                  <a:schemeClr val="tx1"/>
                </a:solidFill>
              </a:rPr>
              <a:t>Valeurs manquantes sur les coûts d’achat</a:t>
            </a:r>
          </a:p>
          <a:p>
            <a:r>
              <a:rPr lang="fr-FR" sz="1500" dirty="0">
                <a:solidFill>
                  <a:schemeClr val="tx1"/>
                </a:solidFill>
              </a:rPr>
              <a:t>Stocks parfois incohérents par rapport aux ventes</a:t>
            </a:r>
          </a:p>
          <a:p>
            <a:r>
              <a:rPr lang="fr-FR" sz="1500" dirty="0" smtClean="0">
                <a:solidFill>
                  <a:schemeClr val="tx1"/>
                </a:solidFill>
              </a:rPr>
              <a:t>Jointures </a:t>
            </a:r>
            <a:r>
              <a:rPr lang="fr-FR" sz="1500" dirty="0">
                <a:solidFill>
                  <a:schemeClr val="tx1"/>
                </a:solidFill>
              </a:rPr>
              <a:t>parfois complexes à fiabiliser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fr-FR" sz="1600" dirty="0">
              <a:solidFill>
                <a:schemeClr val="tx1"/>
              </a:solidFill>
              <a:ea typeface="Montserrat"/>
              <a:cs typeface="Montserrat"/>
              <a:sym typeface="Montserrat"/>
            </a:endParaRPr>
          </a:p>
          <a:p>
            <a:endParaRPr lang="fr-FR" sz="1600" dirty="0">
              <a:solidFill>
                <a:schemeClr val="tx1"/>
              </a:solidFill>
            </a:endParaRPr>
          </a:p>
          <a:p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4" name="Google Shape;64;p4"/>
          <p:cNvSpPr/>
          <p:nvPr/>
        </p:nvSpPr>
        <p:spPr>
          <a:xfrm>
            <a:off x="-11017" y="-11019"/>
            <a:ext cx="9144000" cy="80423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400"/>
            </a:pPr>
            <a:r>
              <a:rPr lang="fr-FR" sz="2800" b="1" dirty="0">
                <a:solidFill>
                  <a:srgbClr val="F3F3F3"/>
                </a:solidFill>
                <a:latin typeface="+mj-l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0"/>
                  </a:ext>
                </a:extLst>
              </a:rPr>
              <a:t>Analyses </a:t>
            </a:r>
            <a:r>
              <a:rPr lang="fr-FR" sz="2800" b="1" dirty="0">
                <a:solidFill>
                  <a:srgbClr val="F3F3F3"/>
                </a:solidFill>
                <a:latin typeface="+mj-l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1"/>
                  </a:ext>
                </a:extLst>
              </a:rPr>
              <a:t>Exploratoires</a:t>
            </a:r>
            <a:r>
              <a:rPr lang="fr-FR" sz="2800" b="1" dirty="0">
                <a:solidFill>
                  <a:srgbClr val="F3F3F3"/>
                </a:solidFill>
                <a:latin typeface="+mj-l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xmlns:lc="http://schemas.openxmlformats.org/drawingml/2006/lockedCanvas" textRoundtripDataId="2"/>
                  </a:ext>
                </a:extLst>
              </a:rPr>
              <a:t> des Données </a:t>
            </a:r>
            <a:endParaRPr lang="fr-FR" sz="2800" b="1" dirty="0">
              <a:solidFill>
                <a:srgbClr val="F3F3F3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69595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121227"/>
            <a:ext cx="788162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sz="1400" b="1" dirty="0" smtClean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Choix </a:t>
            </a:r>
            <a:r>
              <a:rPr lang="fr" sz="1400" b="1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des </a:t>
            </a:r>
            <a:r>
              <a:rPr lang="fr" sz="1400" b="1" dirty="0" smtClean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attributs: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-FR" sz="1400" dirty="0" smtClean="0">
              <a:solidFill>
                <a:schemeClr val="tx1"/>
              </a:solidFill>
              <a:latin typeface="+mj-l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Les 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attributs conservés ont été sélectionnés selon leur </a:t>
            </a:r>
            <a:r>
              <a:rPr lang="fr-FR" sz="1400" b="1" dirty="0">
                <a:solidFill>
                  <a:schemeClr val="tx1"/>
                </a:solidFill>
                <a:latin typeface="+mj-lt"/>
              </a:rPr>
              <a:t>utilité métier et analytique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 :</a:t>
            </a:r>
          </a:p>
          <a:p>
            <a:r>
              <a:rPr lang="fr-FR" sz="1400" b="1" dirty="0">
                <a:solidFill>
                  <a:schemeClr val="tx1"/>
                </a:solidFill>
                <a:latin typeface="+mj-lt"/>
              </a:rPr>
              <a:t>Attributs </a:t>
            </a:r>
            <a:r>
              <a:rPr lang="fr-FR" sz="1400" b="1" dirty="0" smtClean="0">
                <a:solidFill>
                  <a:schemeClr val="tx1"/>
                </a:solidFill>
                <a:latin typeface="+mj-lt"/>
              </a:rPr>
              <a:t>Produits: </a:t>
            </a:r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product_id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, </a:t>
            </a:r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prix_HT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, </a:t>
            </a:r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purchase_price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, </a:t>
            </a:r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product_type</a:t>
            </a:r>
            <a:endParaRPr lang="fr-FR" sz="1400" dirty="0">
              <a:solidFill>
                <a:schemeClr val="tx1"/>
              </a:solidFill>
              <a:latin typeface="+mj-lt"/>
            </a:endParaRPr>
          </a:p>
          <a:p>
            <a:r>
              <a:rPr lang="fr-FR" sz="1400" b="1" dirty="0">
                <a:solidFill>
                  <a:schemeClr val="tx1"/>
                </a:solidFill>
                <a:latin typeface="+mj-lt"/>
              </a:rPr>
              <a:t>Attributs </a:t>
            </a:r>
            <a:r>
              <a:rPr lang="fr-FR" sz="1400" b="1" dirty="0" smtClean="0">
                <a:solidFill>
                  <a:schemeClr val="tx1"/>
                </a:solidFill>
                <a:latin typeface="+mj-lt"/>
              </a:rPr>
              <a:t>Ventes: </a:t>
            </a:r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total_sales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, id-</a:t>
            </a:r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web,SKU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, CA</a:t>
            </a:r>
            <a:endParaRPr lang="fr-FR" sz="1400" dirty="0">
              <a:solidFill>
                <a:schemeClr val="tx1"/>
              </a:solidFill>
              <a:latin typeface="+mj-lt"/>
            </a:endParaRPr>
          </a:p>
          <a:p>
            <a:r>
              <a:rPr lang="fr-FR" sz="1400" b="1" dirty="0" smtClean="0">
                <a:solidFill>
                  <a:schemeClr val="tx1"/>
                </a:solidFill>
                <a:latin typeface="+mj-lt"/>
              </a:rPr>
              <a:t>Attributs Stocks : </a:t>
            </a:r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stock_quantity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, </a:t>
            </a:r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stock_status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, </a:t>
            </a:r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valorisation_stock</a:t>
            </a:r>
            <a:endParaRPr lang="fr-FR" sz="1400" dirty="0" smtClean="0">
              <a:solidFill>
                <a:schemeClr val="tx1"/>
              </a:solidFill>
              <a:latin typeface="+mj-lt"/>
            </a:endParaRPr>
          </a:p>
          <a:p>
            <a:pPr marL="114300" indent="0">
              <a:buNone/>
            </a:pP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L’objectif 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était de </a:t>
            </a:r>
            <a:r>
              <a:rPr lang="fr-FR" sz="1400" b="1" dirty="0">
                <a:solidFill>
                  <a:schemeClr val="tx1"/>
                </a:solidFill>
                <a:latin typeface="+mj-lt"/>
              </a:rPr>
              <a:t>limiter les données inutiles</a:t>
            </a:r>
            <a:r>
              <a:rPr lang="fr-FR" sz="1400" dirty="0">
                <a:solidFill>
                  <a:schemeClr val="tx1"/>
                </a:solidFill>
                <a:latin typeface="+mj-lt"/>
              </a:rPr>
              <a:t> pour ne conserver que les variables pertinentes pour le pilotage ERP.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sz="1400" i="1" dirty="0" smtClean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sz="1400" b="1" dirty="0" smtClean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Clés utilisés:</a:t>
            </a:r>
          </a:p>
          <a:p>
            <a:r>
              <a:rPr lang="fr-FR" sz="1400" dirty="0" err="1" smtClean="0">
                <a:solidFill>
                  <a:schemeClr val="tx1"/>
                </a:solidFill>
                <a:latin typeface="+mj-lt"/>
              </a:rPr>
              <a:t>product_id</a:t>
            </a:r>
            <a:r>
              <a:rPr lang="fr-FR" sz="1400" dirty="0" smtClean="0">
                <a:solidFill>
                  <a:schemeClr val="tx1"/>
                </a:solidFill>
                <a:latin typeface="+mj-lt"/>
              </a:rPr>
              <a:t> </a:t>
            </a:r>
          </a:p>
          <a:p>
            <a:r>
              <a:rPr lang="fr-FR" sz="1400" dirty="0" smtClean="0">
                <a:solidFill>
                  <a:schemeClr val="tx1"/>
                </a:solidFill>
                <a:latin typeface="+mj-lt"/>
              </a:rPr>
              <a:t>Id-web</a:t>
            </a:r>
            <a:endParaRPr lang="fr-FR" sz="1400" dirty="0">
              <a:solidFill>
                <a:schemeClr val="tx1"/>
              </a:solidFill>
              <a:latin typeface="+mj-lt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sz="1400" i="1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sz="1400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90995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990141" y="168625"/>
            <a:ext cx="634255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b="1" i="0" u="none" strike="noStrike" cap="none" dirty="0">
                <a:solidFill>
                  <a:srgbClr val="F3F3F3"/>
                </a:solidFill>
                <a:latin typeface="+mj-l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400" b="1" i="0" u="none" strike="noStrike" cap="none" dirty="0">
              <a:solidFill>
                <a:srgbClr val="F3F3F3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37" y="909950"/>
            <a:ext cx="7411124" cy="4036623"/>
          </a:xfrm>
        </p:spPr>
        <p:txBody>
          <a:bodyPr>
            <a:noAutofit/>
          </a:bodyPr>
          <a:lstStyle/>
          <a:p>
            <a:pPr marL="114300" lvl="0" indent="0">
              <a:buClr>
                <a:srgbClr val="999999"/>
              </a:buClr>
              <a:buNone/>
            </a:pPr>
            <a:r>
              <a:rPr lang="fr-FR" sz="1400" b="1" dirty="0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Vigilances particulières au cours du traitements</a:t>
            </a:r>
          </a:p>
          <a:p>
            <a:pPr marL="114300" indent="0">
              <a:buNone/>
            </a:pPr>
            <a:r>
              <a:rPr lang="fr-FR" sz="1400" dirty="0">
                <a:solidFill>
                  <a:schemeClr val="tx1"/>
                </a:solidFill>
              </a:rPr>
              <a:t>Plusieurs points de vigilance ont été identifiés :</a:t>
            </a:r>
          </a:p>
          <a:p>
            <a:r>
              <a:rPr lang="fr-FR" sz="1400" dirty="0">
                <a:solidFill>
                  <a:schemeClr val="tx1"/>
                </a:solidFill>
              </a:rPr>
              <a:t>Risque de doublons lors des jointures</a:t>
            </a:r>
          </a:p>
          <a:p>
            <a:r>
              <a:rPr lang="fr-FR" sz="1400" dirty="0">
                <a:solidFill>
                  <a:schemeClr val="tx1"/>
                </a:solidFill>
              </a:rPr>
              <a:t>Produits ayant plusieurs libellés pour un même identifiant</a:t>
            </a:r>
          </a:p>
          <a:p>
            <a:r>
              <a:rPr lang="fr-FR" sz="1400" dirty="0">
                <a:solidFill>
                  <a:schemeClr val="tx1"/>
                </a:solidFill>
              </a:rPr>
              <a:t>Produits sans correspondance en </a:t>
            </a:r>
            <a:r>
              <a:rPr lang="fr-FR" sz="1400" dirty="0" smtClean="0">
                <a:solidFill>
                  <a:schemeClr val="tx1"/>
                </a:solidFill>
              </a:rPr>
              <a:t>stock</a:t>
            </a:r>
          </a:p>
          <a:p>
            <a:pPr marL="114300" indent="0">
              <a:buNone/>
            </a:pPr>
            <a:endParaRPr lang="fr-FR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fr-FR" sz="1400" b="1" dirty="0" smtClean="0">
                <a:solidFill>
                  <a:schemeClr val="tx1"/>
                </a:solidFill>
              </a:rPr>
              <a:t>Des </a:t>
            </a:r>
            <a:r>
              <a:rPr lang="fr-FR" sz="1400" b="1" dirty="0">
                <a:solidFill>
                  <a:schemeClr val="tx1"/>
                </a:solidFill>
              </a:rPr>
              <a:t>contrôles ont été réalisés après chaque fusion :</a:t>
            </a:r>
          </a:p>
          <a:p>
            <a:r>
              <a:rPr lang="fr-FR" sz="1400" dirty="0">
                <a:solidFill>
                  <a:schemeClr val="tx1"/>
                </a:solidFill>
              </a:rPr>
              <a:t>Vérification du nombre de lignes</a:t>
            </a:r>
          </a:p>
          <a:p>
            <a:r>
              <a:rPr lang="fr-FR" sz="1400" dirty="0">
                <a:solidFill>
                  <a:schemeClr val="tx1"/>
                </a:solidFill>
              </a:rPr>
              <a:t>Vérification de la cohérence des totaux de CA</a:t>
            </a:r>
          </a:p>
          <a:p>
            <a:r>
              <a:rPr lang="fr-FR" sz="1400" dirty="0">
                <a:solidFill>
                  <a:schemeClr val="tx1"/>
                </a:solidFill>
              </a:rPr>
              <a:t>Vérification des volumes de stocks</a:t>
            </a:r>
          </a:p>
          <a:p>
            <a:pPr marL="114300" lvl="0" indent="0">
              <a:buClr>
                <a:srgbClr val="999999"/>
              </a:buClr>
              <a:buNone/>
            </a:pPr>
            <a:endParaRPr lang="fr-FR" sz="1400" b="1" dirty="0" smtClean="0">
              <a:solidFill>
                <a:schemeClr val="tx1"/>
              </a:solidFill>
              <a:ea typeface="Montserrat"/>
              <a:cs typeface="Montserrat"/>
              <a:sym typeface="Montserrat"/>
            </a:endParaRPr>
          </a:p>
          <a:p>
            <a:pPr marL="114300" lvl="0" indent="0">
              <a:buClr>
                <a:srgbClr val="999999"/>
              </a:buClr>
              <a:buNone/>
            </a:pPr>
            <a:r>
              <a:rPr lang="fr-FR" sz="1400" b="1" dirty="0" smtClean="0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Difficultés </a:t>
            </a:r>
            <a:r>
              <a:rPr lang="fr-FR" sz="1400" b="1" dirty="0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ou pièges </a:t>
            </a:r>
            <a:r>
              <a:rPr lang="fr-FR" sz="1400" b="1" dirty="0" smtClean="0">
                <a:solidFill>
                  <a:schemeClr val="tx1"/>
                </a:solidFill>
                <a:ea typeface="Montserrat"/>
                <a:cs typeface="Montserrat"/>
                <a:sym typeface="Montserrat"/>
              </a:rPr>
              <a:t>rencontrés</a:t>
            </a:r>
          </a:p>
          <a:p>
            <a:r>
              <a:rPr lang="fr-FR" sz="1400" dirty="0">
                <a:solidFill>
                  <a:schemeClr val="tx1"/>
                </a:solidFill>
              </a:rPr>
              <a:t>Noms de produits non normalisés</a:t>
            </a:r>
          </a:p>
          <a:p>
            <a:r>
              <a:rPr lang="fr-FR" sz="1400" dirty="0" smtClean="0">
                <a:solidFill>
                  <a:schemeClr val="tx1"/>
                </a:solidFill>
              </a:rPr>
              <a:t>Produits </a:t>
            </a:r>
            <a:r>
              <a:rPr lang="fr-FR" sz="1400" dirty="0">
                <a:solidFill>
                  <a:schemeClr val="tx1"/>
                </a:solidFill>
              </a:rPr>
              <a:t>vendus mais absents du fichier stock</a:t>
            </a:r>
          </a:p>
          <a:p>
            <a:r>
              <a:rPr lang="fr-FR" sz="1400" dirty="0">
                <a:solidFill>
                  <a:schemeClr val="tx1"/>
                </a:solidFill>
              </a:rPr>
              <a:t>Valeurs manquantes empêchant certaines jointures</a:t>
            </a:r>
          </a:p>
          <a:p>
            <a:r>
              <a:rPr lang="fr-FR" sz="1400" dirty="0">
                <a:solidFill>
                  <a:schemeClr val="tx1"/>
                </a:solidFill>
              </a:rPr>
              <a:t>Nécessité de contrôles manuels pour sécuriser certaines liaisons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fr-FR" sz="1400" dirty="0">
              <a:solidFill>
                <a:schemeClr val="tx1"/>
              </a:solidFill>
            </a:endParaRPr>
          </a:p>
          <a:p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4" name="Google Shape;72;p5"/>
          <p:cNvSpPr/>
          <p:nvPr/>
        </p:nvSpPr>
        <p:spPr>
          <a:xfrm>
            <a:off x="0" y="0"/>
            <a:ext cx="9144000" cy="90995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73;p5"/>
          <p:cNvSpPr txBox="1"/>
          <p:nvPr/>
        </p:nvSpPr>
        <p:spPr>
          <a:xfrm>
            <a:off x="895525" y="168625"/>
            <a:ext cx="716882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b="1" i="0" u="none" strike="noStrike" cap="none" dirty="0">
                <a:solidFill>
                  <a:srgbClr val="F3F3F3"/>
                </a:solidFill>
                <a:latin typeface="+mj-lt"/>
                <a:ea typeface="Montserrat"/>
                <a:cs typeface="Montserrat"/>
                <a:sym typeface="Montserrat"/>
              </a:rPr>
              <a:t>Fusion ou consolidations des données</a:t>
            </a:r>
            <a:endParaRPr sz="2400" b="1" i="0" u="none" strike="noStrike" cap="none" dirty="0">
              <a:solidFill>
                <a:srgbClr val="F3F3F3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10710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242371" y="984735"/>
            <a:ext cx="865925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400" b="1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Méthodes statistiques </a:t>
            </a:r>
            <a:r>
              <a:rPr lang="fr" sz="1400" b="1" dirty="0" smtClean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employées: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lang="fr" sz="1400" b="1" dirty="0" smtClean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sz="1400" b="1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80423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115765"/>
            <a:ext cx="68713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b="1" i="0" u="none" strike="noStrike" cap="none" dirty="0">
                <a:solidFill>
                  <a:srgbClr val="F3F3F3"/>
                </a:solidFill>
                <a:latin typeface="+mj-lt"/>
                <a:ea typeface="Montserrat"/>
                <a:cs typeface="Montserrat"/>
                <a:sym typeface="Montserrat"/>
              </a:rPr>
              <a:t>Analyses univariées du prix</a:t>
            </a:r>
            <a:endParaRPr sz="2400" b="1" i="0" u="none" strike="noStrike" cap="none" dirty="0">
              <a:solidFill>
                <a:srgbClr val="F3F3F3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66" y="1423759"/>
            <a:ext cx="3351136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65" y="2426235"/>
            <a:ext cx="3351136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65" y="2990334"/>
            <a:ext cx="3351136" cy="194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66" y="3605099"/>
            <a:ext cx="3351135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803" y="3770352"/>
            <a:ext cx="1465244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722" y="1319961"/>
            <a:ext cx="3972844" cy="1864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Google Shape;79;p6"/>
          <p:cNvSpPr txBox="1">
            <a:spLocks/>
          </p:cNvSpPr>
          <p:nvPr/>
        </p:nvSpPr>
        <p:spPr>
          <a:xfrm>
            <a:off x="5255047" y="3605099"/>
            <a:ext cx="3798981" cy="1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just">
              <a:buNone/>
            </a:pPr>
            <a:r>
              <a:rPr lang="fr-FR" sz="1200" dirty="0">
                <a:solidFill>
                  <a:schemeClr val="tx1"/>
                </a:solidFill>
                <a:latin typeface="+mj-lt"/>
              </a:rPr>
              <a:t>Le z-score indique combien d’écarts-types un prix est éloigné de la moyenne </a:t>
            </a:r>
            <a:r>
              <a:rPr lang="fr-FR" sz="1200" dirty="0" smtClean="0">
                <a:solidFill>
                  <a:schemeClr val="tx1"/>
                </a:solidFill>
                <a:latin typeface="+mj-lt"/>
              </a:rPr>
              <a:t>:</a:t>
            </a:r>
          </a:p>
          <a:p>
            <a:pPr algn="just"/>
            <a:r>
              <a:rPr lang="fr-FR" sz="1200" dirty="0" smtClean="0">
                <a:solidFill>
                  <a:schemeClr val="tx1"/>
                </a:solidFill>
                <a:latin typeface="+mj-lt"/>
              </a:rPr>
              <a:t>z </a:t>
            </a:r>
            <a:r>
              <a:rPr lang="fr-FR" sz="1200" dirty="0">
                <a:solidFill>
                  <a:schemeClr val="tx1"/>
                </a:solidFill>
                <a:latin typeface="+mj-lt"/>
              </a:rPr>
              <a:t>&gt; 0 → prix au-dessus de la moyenne</a:t>
            </a:r>
          </a:p>
          <a:p>
            <a:pPr algn="just"/>
            <a:r>
              <a:rPr lang="fr-FR" sz="1200" dirty="0">
                <a:solidFill>
                  <a:schemeClr val="tx1"/>
                </a:solidFill>
                <a:latin typeface="+mj-lt"/>
              </a:rPr>
              <a:t>z &lt; 0 → prix au-dessous de la moyenne</a:t>
            </a:r>
          </a:p>
          <a:p>
            <a:pPr algn="just"/>
            <a:r>
              <a:rPr lang="fr-FR" sz="1200" dirty="0">
                <a:solidFill>
                  <a:schemeClr val="tx1"/>
                </a:solidFill>
                <a:latin typeface="+mj-lt"/>
              </a:rPr>
              <a:t>plus |z| est grand, plus l’écart à la moyenne est important</a:t>
            </a:r>
          </a:p>
          <a:p>
            <a:pPr marL="114300" indent="0" algn="just">
              <a:buClr>
                <a:srgbClr val="999999"/>
              </a:buClr>
              <a:buNone/>
            </a:pPr>
            <a:endParaRPr lang="fr-FR" sz="1200" dirty="0" smtClean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114300" indent="0" algn="just">
              <a:buClr>
                <a:srgbClr val="999999"/>
              </a:buClr>
              <a:buNone/>
            </a:pPr>
            <a:endParaRPr lang="fr-FR" sz="1200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4" y="1580918"/>
            <a:ext cx="3455452" cy="2599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0;p6"/>
          <p:cNvSpPr/>
          <p:nvPr/>
        </p:nvSpPr>
        <p:spPr>
          <a:xfrm>
            <a:off x="0" y="0"/>
            <a:ext cx="9144000" cy="80423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2500"/>
            </a:pPr>
            <a:r>
              <a:rPr lang="fr-FR" sz="2400" b="1" dirty="0">
                <a:solidFill>
                  <a:srgbClr val="F3F3F3"/>
                </a:solidFill>
                <a:ea typeface="Montserrat"/>
                <a:cs typeface="Montserrat"/>
                <a:sym typeface="Montserrat"/>
              </a:rPr>
              <a:t>Analyses </a:t>
            </a:r>
            <a:r>
              <a:rPr lang="fr-FR" sz="2400" b="1" dirty="0" err="1">
                <a:solidFill>
                  <a:srgbClr val="F3F3F3"/>
                </a:solidFill>
                <a:ea typeface="Montserrat"/>
                <a:cs typeface="Montserrat"/>
                <a:sym typeface="Montserrat"/>
              </a:rPr>
              <a:t>univariées</a:t>
            </a:r>
            <a:r>
              <a:rPr lang="fr-FR" sz="2400" b="1" dirty="0">
                <a:solidFill>
                  <a:srgbClr val="F3F3F3"/>
                </a:solidFill>
                <a:ea typeface="Montserrat"/>
                <a:cs typeface="Montserrat"/>
                <a:sym typeface="Montserrat"/>
              </a:rPr>
              <a:t> du prix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971" y="1046601"/>
            <a:ext cx="5144877" cy="3668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1438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7119" y="656957"/>
            <a:ext cx="8978747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1100" dirty="0"/>
              <a:t>Le graphique met en évidence :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fr-FR" sz="1100" b="1" dirty="0" smtClean="0"/>
              <a:t>La </a:t>
            </a:r>
            <a:r>
              <a:rPr lang="fr-FR" sz="1100" b="1" dirty="0"/>
              <a:t>zone de prix dominante (cœur de l’offre)</a:t>
            </a:r>
          </a:p>
          <a:p>
            <a:pPr algn="just"/>
            <a:r>
              <a:rPr lang="fr-FR" sz="1100" dirty="0"/>
              <a:t>La boîte (entre Q1 et Q3) représente la majorité des produits.</a:t>
            </a:r>
          </a:p>
          <a:p>
            <a:pPr algn="just"/>
            <a:r>
              <a:rPr lang="fr-FR" sz="1100" dirty="0"/>
              <a:t>Elle correspond au segment de prix principal du catalogue.</a:t>
            </a:r>
          </a:p>
          <a:p>
            <a:pPr algn="just"/>
            <a:r>
              <a:rPr lang="fr-FR" sz="1100" dirty="0" smtClean="0"/>
              <a:t>Stratégiquement</a:t>
            </a:r>
            <a:r>
              <a:rPr lang="fr-FR" sz="1100" dirty="0"/>
              <a:t>, c’est l’offre standard sur laquelle repose le volume de ventes.</a:t>
            </a:r>
          </a:p>
          <a:p>
            <a:r>
              <a:rPr lang="fr-FR" sz="1100" b="1" dirty="0"/>
              <a:t>Action possible :</a:t>
            </a:r>
            <a:r>
              <a:rPr lang="fr-FR" sz="1100" dirty="0"/>
              <a:t/>
            </a:r>
            <a:br>
              <a:rPr lang="fr-FR" sz="1100" dirty="0"/>
            </a:br>
            <a:r>
              <a:rPr lang="fr-FR" sz="1100" dirty="0" smtClean="0"/>
              <a:t>Optimiser </a:t>
            </a:r>
            <a:r>
              <a:rPr lang="fr-FR" sz="1100" dirty="0"/>
              <a:t>la marge, la disponibilité et la compétitivité sur cette tranche.</a:t>
            </a:r>
          </a:p>
          <a:p>
            <a:pPr algn="just"/>
            <a:endParaRPr lang="fr-FR" sz="1100" dirty="0" smtClean="0"/>
          </a:p>
          <a:p>
            <a:pPr algn="just"/>
            <a:r>
              <a:rPr lang="fr-FR" sz="1100" b="1" dirty="0" smtClean="0"/>
              <a:t>2.La </a:t>
            </a:r>
            <a:r>
              <a:rPr lang="fr-FR" sz="1100" b="1" dirty="0"/>
              <a:t>médiane (prix typique du catalogue)</a:t>
            </a:r>
          </a:p>
          <a:p>
            <a:pPr algn="just"/>
            <a:r>
              <a:rPr lang="fr-FR" sz="1100" dirty="0"/>
              <a:t>La </a:t>
            </a:r>
            <a:r>
              <a:rPr lang="fr-FR" sz="1100" dirty="0" smtClean="0"/>
              <a:t>ligne </a:t>
            </a:r>
            <a:r>
              <a:rPr lang="fr-FR" sz="1100" dirty="0"/>
              <a:t>au centre de la boîte représente le prix médian.</a:t>
            </a:r>
          </a:p>
          <a:p>
            <a:pPr algn="just"/>
            <a:r>
              <a:rPr lang="fr-FR" sz="1100" dirty="0" smtClean="0"/>
              <a:t>C’est </a:t>
            </a:r>
            <a:r>
              <a:rPr lang="fr-FR" sz="1100" dirty="0"/>
              <a:t>le prix “psychologique” central du catalogue.</a:t>
            </a:r>
          </a:p>
          <a:p>
            <a:r>
              <a:rPr lang="fr-FR" sz="1100" b="1" dirty="0"/>
              <a:t>Action possible :</a:t>
            </a:r>
            <a:r>
              <a:rPr lang="fr-FR" sz="1100" dirty="0"/>
              <a:t/>
            </a:r>
            <a:br>
              <a:rPr lang="fr-FR" sz="1100" dirty="0"/>
            </a:br>
            <a:r>
              <a:rPr lang="fr-FR" sz="1100" dirty="0" smtClean="0"/>
              <a:t>Utiliser </a:t>
            </a:r>
            <a:r>
              <a:rPr lang="fr-FR" sz="1100" dirty="0"/>
              <a:t>ce prix comme référence pour le positionnement marketing.</a:t>
            </a:r>
          </a:p>
          <a:p>
            <a:pPr algn="just"/>
            <a:endParaRPr lang="fr-FR" sz="1100" dirty="0" smtClean="0"/>
          </a:p>
          <a:p>
            <a:pPr algn="just"/>
            <a:r>
              <a:rPr lang="fr-FR" sz="1100" b="1" dirty="0" smtClean="0"/>
              <a:t>3.Les </a:t>
            </a:r>
            <a:r>
              <a:rPr lang="fr-FR" sz="1100" b="1" dirty="0"/>
              <a:t>produits premium (</a:t>
            </a:r>
            <a:r>
              <a:rPr lang="fr-FR" sz="1100" b="1" dirty="0" err="1"/>
              <a:t>outliers</a:t>
            </a:r>
            <a:r>
              <a:rPr lang="fr-FR" sz="1100" b="1" dirty="0"/>
              <a:t> supérieurs)</a:t>
            </a:r>
          </a:p>
          <a:p>
            <a:pPr algn="just"/>
            <a:r>
              <a:rPr lang="fr-FR" sz="1100" dirty="0"/>
              <a:t>Les points au-dessus du moustache supérieur correspondent aux prix très élevés.</a:t>
            </a:r>
          </a:p>
          <a:p>
            <a:pPr algn="just"/>
            <a:r>
              <a:rPr lang="fr-FR" sz="1100" dirty="0"/>
              <a:t>Ils représentent </a:t>
            </a:r>
            <a:r>
              <a:rPr lang="fr-FR" sz="1100" dirty="0" smtClean="0"/>
              <a:t>une </a:t>
            </a:r>
            <a:r>
              <a:rPr lang="fr-FR" sz="1100" dirty="0"/>
              <a:t>faible part du catalogue (cohérent avec les 4,36 % d’</a:t>
            </a:r>
            <a:r>
              <a:rPr lang="fr-FR" sz="1100" dirty="0" err="1"/>
              <a:t>outliers</a:t>
            </a:r>
            <a:r>
              <a:rPr lang="fr-FR" sz="1100" dirty="0" smtClean="0"/>
              <a:t>),mais </a:t>
            </a:r>
            <a:r>
              <a:rPr lang="fr-FR" sz="1100" dirty="0"/>
              <a:t>un fort potentiel de marge unitaire.</a:t>
            </a:r>
          </a:p>
          <a:p>
            <a:pPr algn="just"/>
            <a:r>
              <a:rPr lang="fr-FR" sz="1100" b="1" dirty="0"/>
              <a:t>Action possible : </a:t>
            </a:r>
            <a:endParaRPr lang="fr-FR" sz="1100" b="1" dirty="0" smtClean="0"/>
          </a:p>
          <a:p>
            <a:pPr algn="just"/>
            <a:r>
              <a:rPr lang="fr-FR" sz="1100" dirty="0"/>
              <a:t>R</a:t>
            </a:r>
            <a:r>
              <a:rPr lang="fr-FR" sz="1100" dirty="0" smtClean="0"/>
              <a:t>enforcer </a:t>
            </a:r>
            <a:r>
              <a:rPr lang="fr-FR" sz="1100" dirty="0"/>
              <a:t>le </a:t>
            </a:r>
            <a:r>
              <a:rPr lang="fr-FR" sz="1100" dirty="0" err="1"/>
              <a:t>branding</a:t>
            </a:r>
            <a:r>
              <a:rPr lang="fr-FR" sz="1100" dirty="0"/>
              <a:t> </a:t>
            </a:r>
            <a:r>
              <a:rPr lang="fr-FR" sz="1100" dirty="0" smtClean="0"/>
              <a:t>premium.</a:t>
            </a:r>
          </a:p>
          <a:p>
            <a:endParaRPr lang="fr-FR" sz="1100" b="1" dirty="0" smtClean="0"/>
          </a:p>
          <a:p>
            <a:r>
              <a:rPr lang="fr-FR" sz="1100" b="1" dirty="0" smtClean="0"/>
              <a:t>4.Les </a:t>
            </a:r>
            <a:r>
              <a:rPr lang="fr-FR" sz="1100" b="1" dirty="0"/>
              <a:t>produits à très bas prix (</a:t>
            </a:r>
            <a:r>
              <a:rPr lang="fr-FR" sz="1100" b="1" dirty="0" err="1"/>
              <a:t>outliers</a:t>
            </a:r>
            <a:r>
              <a:rPr lang="fr-FR" sz="1100" b="1" dirty="0"/>
              <a:t> inférieurs)</a:t>
            </a:r>
          </a:p>
          <a:p>
            <a:r>
              <a:rPr lang="fr-FR" sz="1100" dirty="0"/>
              <a:t>Les points sous la moustache inférieure représentent les prix anormalement bas.</a:t>
            </a:r>
          </a:p>
          <a:p>
            <a:r>
              <a:rPr lang="fr-FR" sz="1100" dirty="0" smtClean="0"/>
              <a:t>Ils représentent : produits </a:t>
            </a:r>
            <a:r>
              <a:rPr lang="fr-FR" sz="1100" dirty="0"/>
              <a:t>d’appel pour attirer les </a:t>
            </a:r>
            <a:r>
              <a:rPr lang="fr-FR" sz="1100" dirty="0" smtClean="0"/>
              <a:t>clients, ou </a:t>
            </a:r>
            <a:r>
              <a:rPr lang="fr-FR" sz="1100" dirty="0"/>
              <a:t>déstockage, erreurs de prix, fin de série.</a:t>
            </a:r>
          </a:p>
          <a:p>
            <a:r>
              <a:rPr lang="fr-FR" sz="1100" dirty="0" smtClean="0"/>
              <a:t>Action </a:t>
            </a:r>
            <a:r>
              <a:rPr lang="fr-FR" sz="1100" dirty="0"/>
              <a:t>possible : </a:t>
            </a:r>
          </a:p>
          <a:p>
            <a:pPr lvl="1"/>
            <a:r>
              <a:rPr lang="fr-FR" sz="1100" dirty="0" smtClean="0"/>
              <a:t>S’assurer </a:t>
            </a:r>
            <a:r>
              <a:rPr lang="fr-FR" sz="1100" dirty="0"/>
              <a:t>qu’ils ne dégradent pas l’image de marque.</a:t>
            </a:r>
          </a:p>
          <a:p>
            <a:pPr algn="just"/>
            <a:endParaRPr lang="fr-FR" sz="1100" dirty="0"/>
          </a:p>
        </p:txBody>
      </p:sp>
      <p:sp>
        <p:nvSpPr>
          <p:cNvPr id="5" name="Google Shape;80;p6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2500"/>
            </a:pPr>
            <a:r>
              <a:rPr lang="fr-FR" sz="2400" b="1" dirty="0">
                <a:solidFill>
                  <a:srgbClr val="F3F3F3"/>
                </a:solidFill>
                <a:ea typeface="Montserrat"/>
                <a:cs typeface="Montserrat"/>
                <a:sym typeface="Montserrat"/>
              </a:rPr>
              <a:t>Analyses </a:t>
            </a:r>
            <a:r>
              <a:rPr lang="fr-FR" sz="2400" b="1" dirty="0" err="1">
                <a:solidFill>
                  <a:srgbClr val="F3F3F3"/>
                </a:solidFill>
                <a:ea typeface="Montserrat"/>
                <a:cs typeface="Montserrat"/>
                <a:sym typeface="Montserrat"/>
              </a:rPr>
              <a:t>univariées</a:t>
            </a:r>
            <a:r>
              <a:rPr lang="fr-FR" sz="2400" b="1" dirty="0">
                <a:solidFill>
                  <a:srgbClr val="F3F3F3"/>
                </a:solidFill>
                <a:ea typeface="Montserrat"/>
                <a:cs typeface="Montserrat"/>
                <a:sym typeface="Montserrat"/>
              </a:rPr>
              <a:t> du prix</a:t>
            </a:r>
          </a:p>
        </p:txBody>
      </p:sp>
    </p:spTree>
    <p:extLst>
      <p:ext uri="{BB962C8B-B14F-4D97-AF65-F5344CB8AC3E}">
        <p14:creationId xmlns:p14="http://schemas.microsoft.com/office/powerpoint/2010/main" val="395135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0;p6"/>
          <p:cNvSpPr/>
          <p:nvPr/>
        </p:nvSpPr>
        <p:spPr>
          <a:xfrm>
            <a:off x="0" y="1"/>
            <a:ext cx="9143999" cy="623952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2500"/>
            </a:pPr>
            <a:r>
              <a:rPr lang="fr-FR" sz="2400" b="1" dirty="0">
                <a:solidFill>
                  <a:srgbClr val="F3F3F3"/>
                </a:solidFill>
                <a:ea typeface="Montserrat"/>
                <a:cs typeface="Montserrat"/>
                <a:sym typeface="Montserrat"/>
              </a:rPr>
              <a:t>Analyses </a:t>
            </a:r>
            <a:r>
              <a:rPr lang="fr-FR" sz="2400" b="1" dirty="0" err="1">
                <a:solidFill>
                  <a:srgbClr val="F3F3F3"/>
                </a:solidFill>
                <a:ea typeface="Montserrat"/>
                <a:cs typeface="Montserrat"/>
                <a:sym typeface="Montserrat"/>
              </a:rPr>
              <a:t>univariées</a:t>
            </a:r>
            <a:r>
              <a:rPr lang="fr-FR" sz="2400" b="1" dirty="0">
                <a:solidFill>
                  <a:srgbClr val="F3F3F3"/>
                </a:solidFill>
                <a:ea typeface="Montserrat"/>
                <a:cs typeface="Montserrat"/>
                <a:sym typeface="Montserrat"/>
              </a:rPr>
              <a:t> du prix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80" y="1235991"/>
            <a:ext cx="2973148" cy="1980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75980" y="4205303"/>
            <a:ext cx="876801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/>
              <a:t>L’entreprise dispose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d’un socle de produits à prix homogènes assurant la stabilité du chiffre d’affaires,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d’un petit segment premium pour booster la marge,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et d’un segment bas prix à surveiller pour éviter l’érosion de la rentabilité</a:t>
            </a:r>
            <a:r>
              <a:rPr lang="fr-FR" sz="1200" dirty="0" smtClean="0"/>
              <a:t>.</a:t>
            </a:r>
            <a:endParaRPr lang="fr-FR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6246" y="623953"/>
            <a:ext cx="5376231" cy="3496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026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3999" cy="77118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47528" y="3369"/>
            <a:ext cx="7256957" cy="657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200" b="1" i="0" u="none" strike="noStrike" cap="none" dirty="0">
                <a:solidFill>
                  <a:srgbClr val="F3F3F3"/>
                </a:solidFill>
                <a:latin typeface="+mj-l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200" b="1" dirty="0" smtClean="0">
                <a:solidFill>
                  <a:srgbClr val="F3F3F3"/>
                </a:solidFill>
                <a:latin typeface="+mj-lt"/>
                <a:sym typeface="Montserrat"/>
              </a:rPr>
              <a:t>CA</a:t>
            </a:r>
            <a:endParaRPr sz="2200" b="1" dirty="0">
              <a:latin typeface="+mj-lt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0" y="703642"/>
            <a:ext cx="8593157" cy="394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" sz="1600" b="1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Méthodes statistiques </a:t>
            </a:r>
            <a:r>
              <a:rPr lang="fr" sz="1600" b="1" dirty="0" smtClean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employés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sz="1600" b="1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43" y="1111266"/>
            <a:ext cx="3890730" cy="1378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854" y="970922"/>
            <a:ext cx="3368004" cy="110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43" y="2670210"/>
            <a:ext cx="4334563" cy="247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202" y="2143500"/>
            <a:ext cx="4340646" cy="2880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7;p7"/>
          <p:cNvSpPr>
            <a:spLocks noGrp="1"/>
          </p:cNvSpPr>
          <p:nvPr>
            <p:ph type="title"/>
          </p:nvPr>
        </p:nvSpPr>
        <p:spPr>
          <a:xfrm>
            <a:off x="-1" y="0"/>
            <a:ext cx="9144001" cy="925417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r-FR" sz="2200" b="1" dirty="0" smtClean="0">
                <a:solidFill>
                  <a:schemeClr val="bg1"/>
                </a:solidFill>
              </a:rPr>
              <a:t>Graphique </a:t>
            </a:r>
            <a:r>
              <a:rPr lang="fr-FR" sz="2200" b="1" dirty="0">
                <a:solidFill>
                  <a:schemeClr val="bg1"/>
                </a:solidFill>
              </a:rPr>
              <a:t>du CA par produit (</a:t>
            </a:r>
            <a:r>
              <a:rPr lang="fr-FR" sz="2200" b="1" dirty="0" smtClean="0">
                <a:solidFill>
                  <a:schemeClr val="bg1"/>
                </a:solidFill>
              </a:rPr>
              <a:t>Top 20 </a:t>
            </a:r>
            <a:r>
              <a:rPr lang="fr-FR" sz="2200" b="1" dirty="0">
                <a:solidFill>
                  <a:schemeClr val="bg1"/>
                </a:solidFill>
              </a:rPr>
              <a:t>produits)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960120"/>
            <a:ext cx="9018270" cy="4149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837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22717" y="1416879"/>
            <a:ext cx="8520600" cy="3243255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fr-FR" sz="1300" dirty="0">
                <a:solidFill>
                  <a:schemeClr val="tx1"/>
                </a:solidFill>
              </a:rPr>
              <a:t>Ce graphique identifie les 20 produits qui génèrent le plus de chiffre d’affaires.</a:t>
            </a:r>
            <a:br>
              <a:rPr lang="fr-FR" sz="1300" dirty="0">
                <a:solidFill>
                  <a:schemeClr val="tx1"/>
                </a:solidFill>
              </a:rPr>
            </a:br>
            <a:r>
              <a:rPr lang="fr-FR" sz="1300" dirty="0">
                <a:solidFill>
                  <a:schemeClr val="tx1"/>
                </a:solidFill>
              </a:rPr>
              <a:t>Ils représentent le cœur de la performance économique de l’entreprise.</a:t>
            </a:r>
          </a:p>
          <a:p>
            <a:pPr marL="114300" indent="0">
              <a:buNone/>
            </a:pPr>
            <a:endParaRPr lang="fr-FR" sz="1300" b="1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fr-FR" sz="1300" b="1" dirty="0" smtClean="0">
                <a:solidFill>
                  <a:schemeClr val="tx1"/>
                </a:solidFill>
              </a:rPr>
              <a:t>On constate:</a:t>
            </a:r>
          </a:p>
          <a:p>
            <a:r>
              <a:rPr lang="fr-FR" sz="1300" dirty="0">
                <a:solidFill>
                  <a:schemeClr val="tx1"/>
                </a:solidFill>
              </a:rPr>
              <a:t>U</a:t>
            </a:r>
            <a:r>
              <a:rPr lang="fr-FR" sz="1300" dirty="0" smtClean="0">
                <a:solidFill>
                  <a:schemeClr val="tx1"/>
                </a:solidFill>
              </a:rPr>
              <a:t>ne </a:t>
            </a:r>
            <a:r>
              <a:rPr lang="fr-FR" sz="1300" dirty="0">
                <a:solidFill>
                  <a:schemeClr val="tx1"/>
                </a:solidFill>
              </a:rPr>
              <a:t>forte concentration du CA sur peu de produits (logique 80/20),</a:t>
            </a:r>
          </a:p>
          <a:p>
            <a:r>
              <a:rPr lang="fr-FR" sz="1300" dirty="0" smtClean="0">
                <a:solidFill>
                  <a:schemeClr val="tx1"/>
                </a:solidFill>
              </a:rPr>
              <a:t>Une </a:t>
            </a:r>
            <a:r>
              <a:rPr lang="fr-FR" sz="1300" dirty="0">
                <a:solidFill>
                  <a:schemeClr val="tx1"/>
                </a:solidFill>
              </a:rPr>
              <a:t>différence marquée entre les premiers et les derniers du Top 20.</a:t>
            </a:r>
          </a:p>
          <a:p>
            <a:pPr marL="114300" indent="0">
              <a:buNone/>
            </a:pPr>
            <a:r>
              <a:rPr lang="fr-FR" sz="1300" dirty="0" smtClean="0">
                <a:solidFill>
                  <a:schemeClr val="tx1"/>
                </a:solidFill>
              </a:rPr>
              <a:t>Ces produits </a:t>
            </a:r>
            <a:r>
              <a:rPr lang="fr-FR" sz="1300" dirty="0">
                <a:solidFill>
                  <a:schemeClr val="tx1"/>
                </a:solidFill>
              </a:rPr>
              <a:t>génèrent l’essentiel du </a:t>
            </a:r>
            <a:r>
              <a:rPr lang="fr-FR" sz="1300" dirty="0" smtClean="0">
                <a:solidFill>
                  <a:schemeClr val="tx1"/>
                </a:solidFill>
              </a:rPr>
              <a:t>CA, donc toute </a:t>
            </a:r>
            <a:r>
              <a:rPr lang="fr-FR" sz="1300" dirty="0">
                <a:solidFill>
                  <a:schemeClr val="tx1"/>
                </a:solidFill>
              </a:rPr>
              <a:t>rupture de stock sur ces produits entraîne une perte directe de revenus.</a:t>
            </a:r>
          </a:p>
          <a:p>
            <a:pPr marL="114300" indent="0">
              <a:buNone/>
            </a:pPr>
            <a:endParaRPr lang="fr-FR" sz="13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fr-FR" sz="1300" b="1" dirty="0" smtClean="0">
                <a:solidFill>
                  <a:schemeClr val="tx1"/>
                </a:solidFill>
              </a:rPr>
              <a:t>Décision </a:t>
            </a:r>
            <a:r>
              <a:rPr lang="fr-FR" sz="1300" b="1" dirty="0">
                <a:solidFill>
                  <a:schemeClr val="tx1"/>
                </a:solidFill>
              </a:rPr>
              <a:t>stratégique :</a:t>
            </a:r>
          </a:p>
          <a:p>
            <a:r>
              <a:rPr lang="fr-FR" sz="1300" dirty="0">
                <a:solidFill>
                  <a:schemeClr val="tx1"/>
                </a:solidFill>
              </a:rPr>
              <a:t>Sécuriser l’approvisionnement,</a:t>
            </a:r>
          </a:p>
          <a:p>
            <a:r>
              <a:rPr lang="fr-FR" sz="1300" dirty="0">
                <a:solidFill>
                  <a:schemeClr val="tx1"/>
                </a:solidFill>
              </a:rPr>
              <a:t>Prioriser ces produits dans la logistique, la production et la distribution,</a:t>
            </a:r>
          </a:p>
          <a:p>
            <a:r>
              <a:rPr lang="fr-FR" sz="1300" dirty="0">
                <a:solidFill>
                  <a:schemeClr val="tx1"/>
                </a:solidFill>
              </a:rPr>
              <a:t>Renforcer leur visibilité sur le site et en point de vente.</a:t>
            </a:r>
          </a:p>
          <a:p>
            <a:pPr marL="114300" indent="0" algn="just">
              <a:buNone/>
            </a:pPr>
            <a:endParaRPr lang="fr-FR" sz="1300" dirty="0">
              <a:solidFill>
                <a:schemeClr val="tx1"/>
              </a:solidFill>
            </a:endParaRPr>
          </a:p>
        </p:txBody>
      </p:sp>
      <p:sp>
        <p:nvSpPr>
          <p:cNvPr id="4" name="Google Shape;87;p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r-FR" sz="2200" b="1" dirty="0" smtClean="0">
                <a:solidFill>
                  <a:schemeClr val="bg1"/>
                </a:solidFill>
              </a:rPr>
              <a:t>Commentaires sur le graphique </a:t>
            </a:r>
            <a:r>
              <a:rPr lang="fr-FR" sz="2200" b="1" dirty="0">
                <a:solidFill>
                  <a:schemeClr val="bg1"/>
                </a:solidFill>
              </a:rPr>
              <a:t>du CA par produit (</a:t>
            </a:r>
            <a:r>
              <a:rPr lang="fr-FR" sz="2200" b="1" dirty="0" smtClean="0">
                <a:solidFill>
                  <a:schemeClr val="bg1"/>
                </a:solidFill>
              </a:rPr>
              <a:t>Top 20 </a:t>
            </a:r>
            <a:r>
              <a:rPr lang="fr-FR" sz="2200" b="1" dirty="0">
                <a:solidFill>
                  <a:schemeClr val="bg1"/>
                </a:solidFill>
              </a:rPr>
              <a:t>produits)</a:t>
            </a:r>
          </a:p>
        </p:txBody>
      </p:sp>
    </p:spTree>
    <p:extLst>
      <p:ext uri="{BB962C8B-B14F-4D97-AF65-F5344CB8AC3E}">
        <p14:creationId xmlns:p14="http://schemas.microsoft.com/office/powerpoint/2010/main" val="260074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52" y="1066572"/>
            <a:ext cx="3161841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7;p7"/>
          <p:cNvSpPr txBox="1">
            <a:spLocks/>
          </p:cNvSpPr>
          <p:nvPr/>
        </p:nvSpPr>
        <p:spPr>
          <a:xfrm>
            <a:off x="0" y="0"/>
            <a:ext cx="9144000" cy="782198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>Analyses complémentaire</a:t>
            </a:r>
            <a:r>
              <a:rPr lang="fr-FR" sz="1800" b="1" dirty="0" smtClean="0">
                <a:solidFill>
                  <a:schemeClr val="bg1"/>
                </a:solidFill>
                <a:ea typeface="Montserrat"/>
                <a:sym typeface="Montserrat"/>
              </a:rPr>
              <a:t>s</a:t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sym typeface="Montserrat"/>
              </a:rPr>
            </a:br>
            <a:r>
              <a:rPr lang="fr-FR" sz="1800" b="1" dirty="0" smtClean="0">
                <a:solidFill>
                  <a:schemeClr val="bg1"/>
                </a:solidFill>
                <a:ea typeface="Montserrat"/>
                <a:sym typeface="Montserrat"/>
              </a:rPr>
              <a:t>L</a:t>
            </a:r>
            <a:r>
              <a:rPr lang="fr-FR" sz="1800" b="1" dirty="0" smtClean="0">
                <a:solidFill>
                  <a:schemeClr val="bg1"/>
                </a:solidFill>
              </a:rPr>
              <a:t>es ventes en quantité</a:t>
            </a:r>
            <a:br>
              <a:rPr lang="fr-FR" sz="1800" b="1" dirty="0" smtClean="0">
                <a:solidFill>
                  <a:schemeClr val="bg1"/>
                </a:solidFill>
              </a:rPr>
            </a:br>
            <a:r>
              <a:rPr lang="fr-FR" sz="1800" b="1" dirty="0" smtClean="0">
                <a:solidFill>
                  <a:schemeClr val="bg1"/>
                </a:solidFill>
              </a:rPr>
              <a:t/>
            </a:r>
            <a:br>
              <a:rPr lang="fr-FR" sz="1800" b="1" dirty="0" smtClean="0">
                <a:solidFill>
                  <a:schemeClr val="bg1"/>
                </a:solidFill>
              </a:rPr>
            </a:br>
            <a:r>
              <a:rPr lang="fr-FR" sz="1800" b="1" dirty="0" smtClean="0">
                <a:solidFill>
                  <a:schemeClr val="bg1"/>
                </a:solidFill>
              </a:rPr>
              <a:t/>
            </a:r>
            <a:br>
              <a:rPr lang="fr-FR" sz="1800" b="1" dirty="0" smtClean="0">
                <a:solidFill>
                  <a:schemeClr val="bg1"/>
                </a:solidFill>
              </a:rPr>
            </a:br>
            <a:endParaRPr lang="fr-FR" sz="1800" b="1" dirty="0">
              <a:solidFill>
                <a:schemeClr val="bg1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95" y="953418"/>
            <a:ext cx="5596569" cy="387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529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7;p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2198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r>
              <a:rPr lang="fr-FR" sz="1800" b="1" dirty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1800" b="1" dirty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>Analyses complémentaire</a:t>
            </a:r>
            <a:r>
              <a:rPr lang="fr-FR" sz="1800" b="1" dirty="0" smtClean="0">
                <a:solidFill>
                  <a:schemeClr val="bg1"/>
                </a:solidFill>
                <a:ea typeface="Montserrat"/>
                <a:sym typeface="Montserrat"/>
              </a:rPr>
              <a:t>s</a:t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sym typeface="Montserrat"/>
              </a:rPr>
            </a:br>
            <a:r>
              <a:rPr lang="fr-FR" sz="1800" b="1" dirty="0" smtClean="0">
                <a:solidFill>
                  <a:schemeClr val="bg1"/>
                </a:solidFill>
                <a:ea typeface="Montserrat"/>
                <a:sym typeface="Montserrat"/>
              </a:rPr>
              <a:t>L</a:t>
            </a:r>
            <a:r>
              <a:rPr lang="fr-FR" sz="1800" b="1" dirty="0" smtClean="0">
                <a:solidFill>
                  <a:schemeClr val="bg1"/>
                </a:solidFill>
              </a:rPr>
              <a:t>es </a:t>
            </a:r>
            <a:r>
              <a:rPr lang="fr-FR" sz="1800" b="1" dirty="0">
                <a:solidFill>
                  <a:schemeClr val="bg1"/>
                </a:solidFill>
              </a:rPr>
              <a:t>ventes en quantité</a:t>
            </a:r>
            <a:br>
              <a:rPr lang="fr-FR" sz="1800" b="1" dirty="0">
                <a:solidFill>
                  <a:schemeClr val="bg1"/>
                </a:solidFill>
              </a:rPr>
            </a:br>
            <a:r>
              <a:rPr lang="fr-FR" sz="1800" b="1" dirty="0">
                <a:solidFill>
                  <a:schemeClr val="bg1"/>
                </a:solidFill>
              </a:rPr>
              <a:t/>
            </a:r>
            <a:br>
              <a:rPr lang="fr-FR" sz="1800" b="1" dirty="0">
                <a:solidFill>
                  <a:schemeClr val="bg1"/>
                </a:solidFill>
              </a:rPr>
            </a:br>
            <a:r>
              <a:rPr lang="fr-FR" sz="1800" b="1" dirty="0">
                <a:solidFill>
                  <a:schemeClr val="bg1"/>
                </a:solidFill>
              </a:rPr>
              <a:t/>
            </a:r>
            <a:br>
              <a:rPr lang="fr-FR" sz="1800" b="1" dirty="0">
                <a:solidFill>
                  <a:schemeClr val="bg1"/>
                </a:solidFill>
              </a:rPr>
            </a:br>
            <a:endParaRPr lang="fr-FR" sz="18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135" y="4024776"/>
            <a:ext cx="895568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100" dirty="0"/>
              <a:t>Le graphique présente les 20 articles les plus </a:t>
            </a:r>
            <a:r>
              <a:rPr lang="fr-FR" sz="1100" dirty="0" smtClean="0"/>
              <a:t>vendus. </a:t>
            </a:r>
            <a:r>
              <a:rPr lang="fr-FR" sz="1100" dirty="0"/>
              <a:t>On observe clairement </a:t>
            </a:r>
            <a:r>
              <a:rPr lang="fr-FR" sz="1100" dirty="0" smtClean="0"/>
              <a:t>les produits </a:t>
            </a:r>
            <a:r>
              <a:rPr lang="fr-FR" sz="1100" dirty="0"/>
              <a:t>qui se vendent le plus </a:t>
            </a:r>
            <a:r>
              <a:rPr lang="fr-FR" sz="1100" dirty="0" smtClean="0"/>
              <a:t>rapidement</a:t>
            </a:r>
            <a:r>
              <a:rPr lang="fr-FR" sz="1100" dirty="0" smtClean="0"/>
              <a:t>, </a:t>
            </a:r>
            <a:r>
              <a:rPr lang="fr-FR" sz="1100" dirty="0"/>
              <a:t>ce qui permet d’identifier </a:t>
            </a:r>
            <a:r>
              <a:rPr lang="fr-FR" sz="1100" dirty="0" smtClean="0"/>
              <a:t>les </a:t>
            </a:r>
            <a:r>
              <a:rPr lang="fr-FR" sz="1100" dirty="0"/>
              <a:t>best-sellers</a:t>
            </a:r>
            <a:r>
              <a:rPr lang="fr-FR" sz="1100" dirty="0" smtClean="0"/>
              <a:t>.</a:t>
            </a:r>
            <a:endParaRPr lang="fr-FR" sz="1100" dirty="0"/>
          </a:p>
          <a:p>
            <a:r>
              <a:rPr lang="fr-FR" sz="1100" dirty="0"/>
              <a:t>Il faut assurer leur disponibilité en stock pour éviter les ruptures.</a:t>
            </a:r>
          </a:p>
          <a:p>
            <a:r>
              <a:rPr lang="fr-FR" sz="1100" b="1" dirty="0"/>
              <a:t>Action stratégique </a:t>
            </a:r>
            <a:r>
              <a:rPr lang="fr-FR" sz="1100" b="1" dirty="0" smtClean="0"/>
              <a:t>:	</a:t>
            </a:r>
            <a:endParaRPr lang="fr-FR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/>
              <a:t>Prioriser le réapprovisionnement automatique de ces articles.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/>
              <a:t>Surveiller leur rotation </a:t>
            </a:r>
            <a:r>
              <a:rPr lang="fr-FR" sz="1100" dirty="0" smtClean="0"/>
              <a:t>de stock.</a:t>
            </a:r>
            <a:endParaRPr lang="fr-FR" sz="11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12" y="818405"/>
            <a:ext cx="7402476" cy="3206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327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7;p7"/>
          <p:cNvSpPr txBox="1">
            <a:spLocks/>
          </p:cNvSpPr>
          <p:nvPr/>
        </p:nvSpPr>
        <p:spPr>
          <a:xfrm>
            <a:off x="0" y="0"/>
            <a:ext cx="9144000" cy="672029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endParaRPr lang="fr-FR" sz="1800" b="1" dirty="0" smtClean="0">
              <a:solidFill>
                <a:schemeClr val="bg1"/>
              </a:solidFill>
              <a:ea typeface="Montserrat"/>
              <a:cs typeface="Montserrat"/>
              <a:sym typeface="Montserrat"/>
            </a:endParaRPr>
          </a:p>
          <a:p>
            <a:pPr algn="ctr"/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>Analyses complémentaire</a:t>
            </a:r>
            <a:r>
              <a:rPr lang="fr-FR" sz="1800" b="1" dirty="0" smtClean="0">
                <a:solidFill>
                  <a:schemeClr val="bg1"/>
                </a:solidFill>
                <a:ea typeface="Montserrat"/>
                <a:sym typeface="Montserrat"/>
              </a:rPr>
              <a:t>s</a:t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sym typeface="Montserrat"/>
              </a:rPr>
            </a:br>
            <a:r>
              <a:rPr lang="fr-FR" sz="1800" b="1" dirty="0">
                <a:solidFill>
                  <a:schemeClr val="bg1"/>
                </a:solidFill>
              </a:rPr>
              <a:t>Analyse des stocks</a:t>
            </a:r>
          </a:p>
          <a:p>
            <a:pPr algn="ctr"/>
            <a:r>
              <a:rPr lang="fr-FR" sz="1800" b="1" dirty="0" smtClean="0">
                <a:solidFill>
                  <a:schemeClr val="bg1"/>
                </a:solidFill>
              </a:rPr>
              <a:t/>
            </a:r>
            <a:br>
              <a:rPr lang="fr-FR" sz="1800" b="1" dirty="0" smtClean="0">
                <a:solidFill>
                  <a:schemeClr val="bg1"/>
                </a:solidFill>
              </a:rPr>
            </a:br>
            <a:r>
              <a:rPr lang="fr-FR" sz="1800" b="1" dirty="0" smtClean="0">
                <a:solidFill>
                  <a:schemeClr val="bg1"/>
                </a:solidFill>
              </a:rPr>
              <a:t/>
            </a:r>
            <a:br>
              <a:rPr lang="fr-FR" sz="1800" b="1" dirty="0" smtClean="0">
                <a:solidFill>
                  <a:schemeClr val="bg1"/>
                </a:solidFill>
              </a:rPr>
            </a:br>
            <a:r>
              <a:rPr lang="fr-FR" sz="1800" b="1" dirty="0" smtClean="0">
                <a:solidFill>
                  <a:schemeClr val="bg1"/>
                </a:solidFill>
              </a:rPr>
              <a:t/>
            </a:r>
            <a:br>
              <a:rPr lang="fr-FR" sz="1800" b="1" dirty="0" smtClean="0">
                <a:solidFill>
                  <a:schemeClr val="bg1"/>
                </a:solidFill>
              </a:rPr>
            </a:br>
            <a:endParaRPr lang="fr-FR" sz="1800" b="1" dirty="0">
              <a:solidFill>
                <a:schemeClr val="bg1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36" y="892367"/>
            <a:ext cx="8890612" cy="3899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768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8301" y="1376246"/>
            <a:ext cx="8802477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tx1"/>
                </a:solidFill>
              </a:rPr>
              <a:t>Le graphique met en évidence les 20 produits qui présentent le plus grand nombre de mois de </a:t>
            </a:r>
            <a:r>
              <a:rPr lang="fr-FR" sz="1200" dirty="0" smtClean="0">
                <a:solidFill>
                  <a:schemeClr val="tx1"/>
                </a:solidFill>
              </a:rPr>
              <a:t>stock</a:t>
            </a:r>
            <a:r>
              <a:rPr lang="fr-FR" sz="1200" dirty="0">
                <a:solidFill>
                  <a:schemeClr val="tx1"/>
                </a:solidFill>
              </a:rPr>
              <a:t>.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smtClean="0">
                <a:solidFill>
                  <a:schemeClr val="tx1"/>
                </a:solidFill>
              </a:rPr>
              <a:t>Ces </a:t>
            </a:r>
            <a:r>
              <a:rPr lang="fr-FR" sz="1200" dirty="0">
                <a:solidFill>
                  <a:schemeClr val="tx1"/>
                </a:solidFill>
              </a:rPr>
              <a:t>produits immobilisent du capital en stock.</a:t>
            </a:r>
          </a:p>
          <a:p>
            <a:r>
              <a:rPr lang="fr-FR" sz="1200" dirty="0">
                <a:solidFill>
                  <a:schemeClr val="tx1"/>
                </a:solidFill>
              </a:rPr>
              <a:t>Ils ne génèrent pas de chiffre d’affaires proportionnellement à l’espace et au coût qu’ils occupent.</a:t>
            </a:r>
          </a:p>
          <a:p>
            <a:endParaRPr lang="fr-FR" sz="1200" b="1" dirty="0" smtClean="0">
              <a:solidFill>
                <a:schemeClr val="tx1"/>
              </a:solidFill>
            </a:endParaRPr>
          </a:p>
          <a:p>
            <a:r>
              <a:rPr lang="fr-FR" sz="1200" b="1" dirty="0" smtClean="0">
                <a:solidFill>
                  <a:schemeClr val="tx1"/>
                </a:solidFill>
              </a:rPr>
              <a:t>Action </a:t>
            </a:r>
            <a:r>
              <a:rPr lang="fr-FR" sz="1200" b="1" dirty="0">
                <a:solidFill>
                  <a:schemeClr val="tx1"/>
                </a:solidFill>
              </a:rPr>
              <a:t>stratégique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Évaluer la pertinence de maintenir ces produits dans le catalogue.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Décider de déstockage, promotions ou liquidation pour libérer de la trésorerie et de l’espace</a:t>
            </a:r>
            <a:r>
              <a:rPr lang="fr-FR" sz="1200" dirty="0" smtClean="0">
                <a:solidFill>
                  <a:schemeClr val="tx1"/>
                </a:solidFill>
              </a:rPr>
              <a:t>.</a:t>
            </a:r>
          </a:p>
          <a:p>
            <a:endParaRPr lang="fr-FR" sz="1200" dirty="0">
              <a:solidFill>
                <a:srgbClr val="FF0000"/>
              </a:solidFill>
            </a:endParaRPr>
          </a:p>
          <a:p>
            <a:r>
              <a:rPr lang="fr-FR" sz="1200" b="1" dirty="0" smtClean="0">
                <a:solidFill>
                  <a:srgbClr val="FF0000"/>
                </a:solidFill>
              </a:rPr>
              <a:t>Cas </a:t>
            </a:r>
            <a:r>
              <a:rPr lang="fr-FR" sz="1200" b="1" dirty="0">
                <a:solidFill>
                  <a:srgbClr val="FF0000"/>
                </a:solidFill>
              </a:rPr>
              <a:t>particulier des bouteilles de vin (&gt;200 mois)</a:t>
            </a:r>
          </a:p>
          <a:p>
            <a:r>
              <a:rPr lang="fr-FR" sz="1200" dirty="0" smtClean="0">
                <a:solidFill>
                  <a:schemeClr val="tx1"/>
                </a:solidFill>
              </a:rPr>
              <a:t>Les </a:t>
            </a:r>
            <a:r>
              <a:rPr lang="fr-FR" sz="1200" dirty="0">
                <a:solidFill>
                  <a:schemeClr val="tx1"/>
                </a:solidFill>
              </a:rPr>
              <a:t>bouteilles de vin haut de gamme </a:t>
            </a:r>
            <a:r>
              <a:rPr lang="fr-FR" sz="1200" dirty="0" smtClean="0">
                <a:solidFill>
                  <a:schemeClr val="tx1"/>
                </a:solidFill>
              </a:rPr>
              <a:t>peuvent </a:t>
            </a:r>
            <a:r>
              <a:rPr lang="fr-FR" sz="1200" dirty="0">
                <a:solidFill>
                  <a:schemeClr val="tx1"/>
                </a:solidFill>
              </a:rPr>
              <a:t>se conserver longtemps, parfois plusieurs années.</a:t>
            </a:r>
          </a:p>
          <a:p>
            <a:r>
              <a:rPr lang="fr-FR" sz="1200" dirty="0">
                <a:solidFill>
                  <a:schemeClr val="tx1"/>
                </a:solidFill>
              </a:rPr>
              <a:t>Elles sont destinées à un marché de niche et se vendent lentement mais avec une marge élevée.</a:t>
            </a:r>
          </a:p>
          <a:p>
            <a:r>
              <a:rPr lang="fr-FR" sz="1200" dirty="0">
                <a:solidFill>
                  <a:schemeClr val="tx1"/>
                </a:solidFill>
              </a:rPr>
              <a:t>La rotation est donc faible, mais cela peut être stratégique si le produit est rare ou prestigieux.</a:t>
            </a:r>
          </a:p>
          <a:p>
            <a:endParaRPr lang="fr-FR" sz="1200" b="1" dirty="0" smtClean="0">
              <a:solidFill>
                <a:schemeClr val="tx1"/>
              </a:solidFill>
            </a:endParaRPr>
          </a:p>
          <a:p>
            <a:r>
              <a:rPr lang="fr-FR" sz="1200" b="1" dirty="0" smtClean="0">
                <a:solidFill>
                  <a:schemeClr val="tx1"/>
                </a:solidFill>
              </a:rPr>
              <a:t>Action </a:t>
            </a:r>
            <a:r>
              <a:rPr lang="fr-FR" sz="1200" b="1" dirty="0">
                <a:solidFill>
                  <a:schemeClr val="tx1"/>
                </a:solidFill>
              </a:rPr>
              <a:t>stratégique :</a:t>
            </a:r>
          </a:p>
          <a:p>
            <a:r>
              <a:rPr lang="fr-FR" sz="1200" dirty="0" smtClean="0">
                <a:solidFill>
                  <a:schemeClr val="tx1"/>
                </a:solidFill>
              </a:rPr>
              <a:t>Vérifier </a:t>
            </a:r>
            <a:r>
              <a:rPr lang="fr-FR" sz="1200" dirty="0">
                <a:solidFill>
                  <a:schemeClr val="tx1"/>
                </a:solidFill>
              </a:rPr>
              <a:t>si le vin est :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Toujours en demande ou dépassé.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1"/>
                </a:solidFill>
              </a:rPr>
              <a:t>Encore rentable malgré le temps en stock (frais de stockage, risque de perte ou péremption).</a:t>
            </a:r>
          </a:p>
        </p:txBody>
      </p:sp>
      <p:sp>
        <p:nvSpPr>
          <p:cNvPr id="5" name="Google Shape;87;p7"/>
          <p:cNvSpPr txBox="1">
            <a:spLocks noGrp="1"/>
          </p:cNvSpPr>
          <p:nvPr>
            <p:ph type="title"/>
          </p:nvPr>
        </p:nvSpPr>
        <p:spPr>
          <a:xfrm>
            <a:off x="-1" y="0"/>
            <a:ext cx="9144001" cy="760164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endParaRPr lang="fr-FR" sz="1800" b="1" dirty="0" smtClean="0">
              <a:solidFill>
                <a:schemeClr val="bg1"/>
              </a:solidFill>
              <a:ea typeface="Montserrat"/>
              <a:cs typeface="Montserrat"/>
              <a:sym typeface="Montserrat"/>
            </a:endParaRPr>
          </a:p>
          <a:p>
            <a:pPr algn="ctr"/>
            <a:r>
              <a:rPr lang="fr-FR" sz="18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>Analyses complémentaire</a:t>
            </a:r>
            <a:r>
              <a:rPr lang="fr-FR" sz="1800" b="1" dirty="0" smtClean="0">
                <a:solidFill>
                  <a:schemeClr val="bg1"/>
                </a:solidFill>
                <a:ea typeface="Montserrat"/>
                <a:sym typeface="Montserrat"/>
              </a:rPr>
              <a:t>s</a:t>
            </a:r>
            <a:br>
              <a:rPr lang="fr-FR" sz="1800" b="1" dirty="0" smtClean="0">
                <a:solidFill>
                  <a:schemeClr val="bg1"/>
                </a:solidFill>
                <a:ea typeface="Montserrat"/>
                <a:sym typeface="Montserrat"/>
              </a:rPr>
            </a:br>
            <a:r>
              <a:rPr lang="fr-FR" sz="1800" b="1" dirty="0">
                <a:solidFill>
                  <a:schemeClr val="bg1"/>
                </a:solidFill>
              </a:rPr>
              <a:t>Analyse des stocks</a:t>
            </a:r>
          </a:p>
          <a:p>
            <a:pPr algn="ctr"/>
            <a:r>
              <a:rPr lang="fr-FR" sz="1800" b="1" dirty="0" smtClean="0">
                <a:solidFill>
                  <a:schemeClr val="bg1"/>
                </a:solidFill>
              </a:rPr>
              <a:t/>
            </a:r>
            <a:br>
              <a:rPr lang="fr-FR" sz="1800" b="1" dirty="0" smtClean="0">
                <a:solidFill>
                  <a:schemeClr val="bg1"/>
                </a:solidFill>
              </a:rPr>
            </a:br>
            <a:r>
              <a:rPr lang="fr-FR" sz="1800" b="1" dirty="0" smtClean="0">
                <a:solidFill>
                  <a:schemeClr val="bg1"/>
                </a:solidFill>
              </a:rPr>
              <a:t/>
            </a:r>
            <a:br>
              <a:rPr lang="fr-FR" sz="1800" b="1" dirty="0" smtClean="0">
                <a:solidFill>
                  <a:schemeClr val="bg1"/>
                </a:solidFill>
              </a:rPr>
            </a:br>
            <a:r>
              <a:rPr lang="fr-FR" sz="1800" b="1" dirty="0" smtClean="0">
                <a:solidFill>
                  <a:schemeClr val="bg1"/>
                </a:solidFill>
              </a:rPr>
              <a:t/>
            </a:r>
            <a:br>
              <a:rPr lang="fr-FR" sz="1800" b="1" dirty="0" smtClean="0">
                <a:solidFill>
                  <a:schemeClr val="bg1"/>
                </a:solidFill>
              </a:rPr>
            </a:br>
            <a:endParaRPr lang="fr-FR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035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7;p7"/>
          <p:cNvSpPr txBox="1">
            <a:spLocks/>
          </p:cNvSpPr>
          <p:nvPr/>
        </p:nvSpPr>
        <p:spPr>
          <a:xfrm>
            <a:off x="0" y="0"/>
            <a:ext cx="9144000" cy="672029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2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22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r>
              <a:rPr lang="fr-FR" sz="22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22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r>
              <a:rPr lang="fr-FR" sz="22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22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endParaRPr lang="fr-FR" sz="2200" b="1" dirty="0" smtClean="0">
              <a:solidFill>
                <a:schemeClr val="bg1"/>
              </a:solidFill>
              <a:ea typeface="Montserrat"/>
              <a:cs typeface="Montserrat"/>
              <a:sym typeface="Montserrat"/>
            </a:endParaRPr>
          </a:p>
          <a:p>
            <a:pPr algn="ctr"/>
            <a:r>
              <a:rPr lang="fr-FR" sz="22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>Analyses complémentaire</a:t>
            </a:r>
            <a:r>
              <a:rPr lang="fr-FR" sz="2200" b="1" dirty="0" smtClean="0">
                <a:solidFill>
                  <a:schemeClr val="bg1"/>
                </a:solidFill>
                <a:ea typeface="Montserrat"/>
                <a:sym typeface="Montserrat"/>
              </a:rPr>
              <a:t>s</a:t>
            </a:r>
            <a:br>
              <a:rPr lang="fr-FR" sz="2200" b="1" dirty="0" smtClean="0">
                <a:solidFill>
                  <a:schemeClr val="bg1"/>
                </a:solidFill>
                <a:ea typeface="Montserrat"/>
                <a:sym typeface="Montserrat"/>
              </a:rPr>
            </a:br>
            <a:r>
              <a:rPr lang="fr-FR" sz="2200" b="1" dirty="0">
                <a:solidFill>
                  <a:schemeClr val="bg1"/>
                </a:solidFill>
              </a:rPr>
              <a:t>Analyse du taux de marge</a:t>
            </a:r>
          </a:p>
          <a:p>
            <a:pPr algn="ctr"/>
            <a:r>
              <a:rPr lang="fr-FR" sz="2200" b="1" dirty="0" smtClean="0">
                <a:solidFill>
                  <a:schemeClr val="bg1"/>
                </a:solidFill>
              </a:rPr>
              <a:t/>
            </a:r>
            <a:br>
              <a:rPr lang="fr-FR" sz="2200" b="1" dirty="0" smtClean="0">
                <a:solidFill>
                  <a:schemeClr val="bg1"/>
                </a:solidFill>
              </a:rPr>
            </a:br>
            <a:r>
              <a:rPr lang="fr-FR" sz="2200" b="1" dirty="0" smtClean="0">
                <a:solidFill>
                  <a:schemeClr val="bg1"/>
                </a:solidFill>
              </a:rPr>
              <a:t/>
            </a:r>
            <a:br>
              <a:rPr lang="fr-FR" sz="2200" b="1" dirty="0" smtClean="0">
                <a:solidFill>
                  <a:schemeClr val="bg1"/>
                </a:solidFill>
              </a:rPr>
            </a:br>
            <a:r>
              <a:rPr lang="fr-FR" sz="2200" b="1" dirty="0" smtClean="0">
                <a:solidFill>
                  <a:schemeClr val="bg1"/>
                </a:solidFill>
              </a:rPr>
              <a:t/>
            </a:r>
            <a:br>
              <a:rPr lang="fr-FR" sz="2200" b="1" dirty="0" smtClean="0">
                <a:solidFill>
                  <a:schemeClr val="bg1"/>
                </a:solidFill>
              </a:rPr>
            </a:br>
            <a:endParaRPr lang="fr-FR" sz="2200" b="1" dirty="0">
              <a:solidFill>
                <a:schemeClr val="bg1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61" y="804231"/>
            <a:ext cx="7564838" cy="4109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594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11700" y="1130442"/>
            <a:ext cx="8520600" cy="34164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fr-FR" sz="1200" dirty="0">
                <a:solidFill>
                  <a:schemeClr val="tx1"/>
                </a:solidFill>
              </a:rPr>
              <a:t>Le graphique montre le taux de marge moyen par type de produit, permettant d’identifier rapidement quels types de produits sont les plus rentables.</a:t>
            </a:r>
          </a:p>
          <a:p>
            <a:pPr marL="114300" indent="0">
              <a:buNone/>
            </a:pPr>
            <a:endParaRPr lang="fr-FR" sz="12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fr-FR" sz="1200" dirty="0" smtClean="0">
                <a:solidFill>
                  <a:schemeClr val="tx1"/>
                </a:solidFill>
              </a:rPr>
              <a:t>Les </a:t>
            </a:r>
            <a:r>
              <a:rPr lang="fr-FR" sz="1200" dirty="0">
                <a:solidFill>
                  <a:schemeClr val="tx1"/>
                </a:solidFill>
              </a:rPr>
              <a:t>produits avec un </a:t>
            </a:r>
            <a:r>
              <a:rPr lang="fr-FR" sz="1200" b="1" dirty="0">
                <a:solidFill>
                  <a:schemeClr val="tx1"/>
                </a:solidFill>
              </a:rPr>
              <a:t>taux de marge élevé </a:t>
            </a:r>
            <a:r>
              <a:rPr lang="fr-FR" sz="1200" dirty="0">
                <a:solidFill>
                  <a:schemeClr val="tx1"/>
                </a:solidFill>
              </a:rPr>
              <a:t>sont essentiels pour la rentabilité globale.</a:t>
            </a:r>
          </a:p>
          <a:p>
            <a:pPr marL="114300" indent="0">
              <a:buNone/>
            </a:pPr>
            <a:r>
              <a:rPr lang="fr-FR" sz="1200" dirty="0">
                <a:solidFill>
                  <a:schemeClr val="tx1"/>
                </a:solidFill>
              </a:rPr>
              <a:t>Même si le volume de vente n’est pas énorme, ils contribuent fortement à la profitabilité.</a:t>
            </a:r>
          </a:p>
          <a:p>
            <a:pPr marL="114300" indent="0">
              <a:buNone/>
            </a:pPr>
            <a:endParaRPr lang="fr-FR" sz="1200" b="1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fr-FR" sz="1200" b="1" dirty="0" smtClean="0">
                <a:solidFill>
                  <a:schemeClr val="tx1"/>
                </a:solidFill>
              </a:rPr>
              <a:t>Action </a:t>
            </a:r>
            <a:r>
              <a:rPr lang="fr-FR" sz="1200" b="1" dirty="0">
                <a:solidFill>
                  <a:schemeClr val="tx1"/>
                </a:solidFill>
              </a:rPr>
              <a:t>stratégique :</a:t>
            </a:r>
          </a:p>
          <a:p>
            <a:r>
              <a:rPr lang="fr-FR" sz="1200" dirty="0">
                <a:solidFill>
                  <a:schemeClr val="tx1"/>
                </a:solidFill>
              </a:rPr>
              <a:t>Mettre en avant ces produits via le marketing et la visibilité.</a:t>
            </a:r>
          </a:p>
          <a:p>
            <a:r>
              <a:rPr lang="fr-FR" sz="1200" dirty="0">
                <a:solidFill>
                  <a:schemeClr val="tx1"/>
                </a:solidFill>
              </a:rPr>
              <a:t>Assurer la disponibilité en stock pour éviter toute rupture.</a:t>
            </a:r>
          </a:p>
          <a:p>
            <a:pPr marL="114300" indent="0">
              <a:buNone/>
            </a:pPr>
            <a:endParaRPr lang="fr-FR" sz="12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fr-FR" sz="1200" dirty="0" smtClean="0">
                <a:solidFill>
                  <a:schemeClr val="tx1"/>
                </a:solidFill>
              </a:rPr>
              <a:t>Les </a:t>
            </a:r>
            <a:r>
              <a:rPr lang="fr-FR" sz="1200" dirty="0">
                <a:solidFill>
                  <a:schemeClr val="tx1"/>
                </a:solidFill>
              </a:rPr>
              <a:t>types de produits avec </a:t>
            </a:r>
            <a:r>
              <a:rPr lang="fr-FR" sz="1200" b="1" dirty="0">
                <a:solidFill>
                  <a:schemeClr val="tx1"/>
                </a:solidFill>
              </a:rPr>
              <a:t>faible marge </a:t>
            </a:r>
            <a:r>
              <a:rPr lang="fr-FR" sz="1200" dirty="0">
                <a:solidFill>
                  <a:schemeClr val="tx1"/>
                </a:solidFill>
              </a:rPr>
              <a:t>peuvent freiner la rentabilité globale, surtout s’ils représentent un gros volume.</a:t>
            </a:r>
          </a:p>
          <a:p>
            <a:pPr marL="114300" indent="0">
              <a:buNone/>
            </a:pPr>
            <a:endParaRPr lang="fr-FR" sz="1200" b="1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fr-FR" sz="1200" b="1" dirty="0" smtClean="0">
                <a:solidFill>
                  <a:schemeClr val="tx1"/>
                </a:solidFill>
              </a:rPr>
              <a:t>Action stratégique :</a:t>
            </a:r>
          </a:p>
          <a:p>
            <a:r>
              <a:rPr lang="fr-FR" sz="1200" dirty="0" smtClean="0">
                <a:solidFill>
                  <a:schemeClr val="tx1"/>
                </a:solidFill>
              </a:rPr>
              <a:t>Revoir </a:t>
            </a:r>
            <a:r>
              <a:rPr lang="fr-FR" sz="1200" dirty="0">
                <a:solidFill>
                  <a:schemeClr val="tx1"/>
                </a:solidFill>
              </a:rPr>
              <a:t>la stratégie de prix ou les coûts d’approvisionnement.</a:t>
            </a:r>
          </a:p>
          <a:p>
            <a:r>
              <a:rPr lang="fr-FR" sz="1200" dirty="0">
                <a:solidFill>
                  <a:schemeClr val="tx1"/>
                </a:solidFill>
              </a:rPr>
              <a:t>Décider si ces produits sont nécessaires pour la gamme ou s’ils peuvent être supprimés ou remplacés.</a:t>
            </a:r>
          </a:p>
          <a:p>
            <a:pPr marL="114300" indent="0">
              <a:buNone/>
            </a:pP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9" name="Google Shape;87;p7"/>
          <p:cNvSpPr txBox="1">
            <a:spLocks/>
          </p:cNvSpPr>
          <p:nvPr/>
        </p:nvSpPr>
        <p:spPr>
          <a:xfrm>
            <a:off x="0" y="11017"/>
            <a:ext cx="9144000" cy="760164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2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22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r>
              <a:rPr lang="fr-FR" sz="22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22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r>
              <a:rPr lang="fr-FR" sz="22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/>
            </a:r>
            <a:br>
              <a:rPr lang="fr-FR" sz="22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</a:br>
            <a:endParaRPr lang="fr-FR" sz="2200" b="1" dirty="0" smtClean="0">
              <a:solidFill>
                <a:schemeClr val="bg1"/>
              </a:solidFill>
              <a:ea typeface="Montserrat"/>
              <a:cs typeface="Montserrat"/>
              <a:sym typeface="Montserrat"/>
            </a:endParaRPr>
          </a:p>
          <a:p>
            <a:pPr algn="ctr"/>
            <a:r>
              <a:rPr lang="fr-FR" sz="2200" b="1" dirty="0" smtClean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>Analyses complémentaire</a:t>
            </a:r>
            <a:r>
              <a:rPr lang="fr-FR" sz="2200" b="1" dirty="0" smtClean="0">
                <a:solidFill>
                  <a:schemeClr val="bg1"/>
                </a:solidFill>
                <a:ea typeface="Montserrat"/>
                <a:sym typeface="Montserrat"/>
              </a:rPr>
              <a:t>s</a:t>
            </a:r>
            <a:br>
              <a:rPr lang="fr-FR" sz="2200" b="1" dirty="0" smtClean="0">
                <a:solidFill>
                  <a:schemeClr val="bg1"/>
                </a:solidFill>
                <a:ea typeface="Montserrat"/>
                <a:sym typeface="Montserrat"/>
              </a:rPr>
            </a:br>
            <a:r>
              <a:rPr lang="fr-FR" sz="2200" b="1" dirty="0">
                <a:solidFill>
                  <a:schemeClr val="bg1"/>
                </a:solidFill>
              </a:rPr>
              <a:t>Analyse du taux de </a:t>
            </a:r>
            <a:r>
              <a:rPr lang="fr-FR" sz="2200" b="1" dirty="0" smtClean="0">
                <a:solidFill>
                  <a:schemeClr val="bg1"/>
                </a:solidFill>
              </a:rPr>
              <a:t>marge</a:t>
            </a:r>
            <a:br>
              <a:rPr lang="fr-FR" sz="2200" b="1" dirty="0" smtClean="0">
                <a:solidFill>
                  <a:schemeClr val="bg1"/>
                </a:solidFill>
              </a:rPr>
            </a:br>
            <a:r>
              <a:rPr lang="fr-FR" sz="2200" b="1" dirty="0" smtClean="0">
                <a:solidFill>
                  <a:schemeClr val="bg1"/>
                </a:solidFill>
              </a:rPr>
              <a:t/>
            </a:r>
            <a:br>
              <a:rPr lang="fr-FR" sz="2200" b="1" dirty="0" smtClean="0">
                <a:solidFill>
                  <a:schemeClr val="bg1"/>
                </a:solidFill>
              </a:rPr>
            </a:br>
            <a:endParaRPr lang="fr-FR" sz="2200" b="1" dirty="0" smtClean="0">
              <a:solidFill>
                <a:schemeClr val="bg1"/>
              </a:solidFill>
            </a:endParaRPr>
          </a:p>
          <a:p>
            <a:pPr algn="ctr"/>
            <a:endParaRPr lang="fr-FR" sz="2200" b="1" dirty="0" smtClean="0">
              <a:solidFill>
                <a:schemeClr val="bg1"/>
              </a:solidFill>
            </a:endParaRPr>
          </a:p>
          <a:p>
            <a:pPr algn="ctr"/>
            <a:endParaRPr lang="fr-FR" sz="2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85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7;p7"/>
          <p:cNvSpPr txBox="1">
            <a:spLocks/>
          </p:cNvSpPr>
          <p:nvPr/>
        </p:nvSpPr>
        <p:spPr>
          <a:xfrm>
            <a:off x="0" y="0"/>
            <a:ext cx="9144000" cy="672029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000" b="1" dirty="0">
                <a:solidFill>
                  <a:schemeClr val="bg1"/>
                </a:solidFill>
              </a:rPr>
              <a:t>Analyse des corrélations entre les variables stock, sales et </a:t>
            </a:r>
            <a:r>
              <a:rPr lang="fr-FR" sz="2000" b="1" dirty="0" err="1" smtClean="0">
                <a:solidFill>
                  <a:schemeClr val="bg1"/>
                </a:solidFill>
              </a:rPr>
              <a:t>price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705080"/>
            <a:ext cx="4351663" cy="4372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831" y="1350656"/>
            <a:ext cx="4505900" cy="2417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214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923" y="991517"/>
            <a:ext cx="6731306" cy="377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Google Shape;87;p7"/>
          <p:cNvSpPr txBox="1">
            <a:spLocks/>
          </p:cNvSpPr>
          <p:nvPr/>
        </p:nvSpPr>
        <p:spPr>
          <a:xfrm>
            <a:off x="0" y="0"/>
            <a:ext cx="9144000" cy="672029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000" b="1" dirty="0">
                <a:solidFill>
                  <a:schemeClr val="bg1"/>
                </a:solidFill>
              </a:rPr>
              <a:t>Analyse des corrélations entre les variables stock, sales et </a:t>
            </a:r>
            <a:r>
              <a:rPr lang="fr-FR" sz="2000" b="1" dirty="0" err="1" smtClean="0">
                <a:solidFill>
                  <a:schemeClr val="bg1"/>
                </a:solidFill>
              </a:rPr>
              <a:t>price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86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3565" y="667733"/>
            <a:ext cx="8520600" cy="4091553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fr-FR" sz="1200" b="1" dirty="0" smtClean="0">
                <a:solidFill>
                  <a:schemeClr val="tx1"/>
                </a:solidFill>
              </a:rPr>
              <a:t>1) </a:t>
            </a:r>
            <a:r>
              <a:rPr lang="fr-FR" sz="1200" b="1" dirty="0" err="1">
                <a:solidFill>
                  <a:schemeClr val="tx1"/>
                </a:solidFill>
              </a:rPr>
              <a:t>stock_quantity</a:t>
            </a:r>
            <a:r>
              <a:rPr lang="fr-FR" sz="1200" b="1" dirty="0">
                <a:solidFill>
                  <a:schemeClr val="tx1"/>
                </a:solidFill>
              </a:rPr>
              <a:t> vs </a:t>
            </a:r>
            <a:r>
              <a:rPr lang="fr-FR" sz="1200" b="1" dirty="0" err="1" smtClean="0">
                <a:solidFill>
                  <a:schemeClr val="tx1"/>
                </a:solidFill>
              </a:rPr>
              <a:t>total_sales</a:t>
            </a:r>
            <a:r>
              <a:rPr lang="fr-FR" sz="1200" b="1" dirty="0" smtClean="0">
                <a:solidFill>
                  <a:schemeClr val="tx1"/>
                </a:solidFill>
              </a:rPr>
              <a:t>: 0,26</a:t>
            </a:r>
          </a:p>
          <a:p>
            <a:r>
              <a:rPr lang="fr-FR" sz="1200" dirty="0" smtClean="0">
                <a:solidFill>
                  <a:schemeClr val="tx1"/>
                </a:solidFill>
              </a:rPr>
              <a:t>Certains </a:t>
            </a:r>
            <a:r>
              <a:rPr lang="fr-FR" sz="1200" dirty="0">
                <a:solidFill>
                  <a:schemeClr val="tx1"/>
                </a:solidFill>
              </a:rPr>
              <a:t>produits restent longtemps en stock malgré le potentiel de </a:t>
            </a:r>
            <a:r>
              <a:rPr lang="fr-FR" sz="1200" dirty="0" smtClean="0">
                <a:solidFill>
                  <a:schemeClr val="tx1"/>
                </a:solidFill>
              </a:rPr>
              <a:t>vente.</a:t>
            </a:r>
          </a:p>
          <a:p>
            <a:r>
              <a:rPr lang="fr-FR" sz="1200" dirty="0" smtClean="0">
                <a:solidFill>
                  <a:schemeClr val="tx1"/>
                </a:solidFill>
              </a:rPr>
              <a:t>Nécessité </a:t>
            </a:r>
            <a:r>
              <a:rPr lang="fr-FR" sz="1200" dirty="0">
                <a:solidFill>
                  <a:schemeClr val="tx1"/>
                </a:solidFill>
              </a:rPr>
              <a:t>d’optimiser la rotation des stocks.</a:t>
            </a:r>
          </a:p>
          <a:p>
            <a:pPr marL="114300" indent="0">
              <a:buNone/>
            </a:pPr>
            <a:r>
              <a:rPr lang="fr-FR" sz="1200" b="1" dirty="0">
                <a:solidFill>
                  <a:schemeClr val="tx1"/>
                </a:solidFill>
              </a:rPr>
              <a:t>Action stratégique :</a:t>
            </a:r>
          </a:p>
          <a:p>
            <a:r>
              <a:rPr lang="fr-FR" sz="1200" dirty="0">
                <a:solidFill>
                  <a:schemeClr val="tx1"/>
                </a:solidFill>
              </a:rPr>
              <a:t>Ajuster le réapprovisionnement selon la demande réelle.</a:t>
            </a:r>
          </a:p>
          <a:p>
            <a:r>
              <a:rPr lang="fr-FR" sz="1200" dirty="0">
                <a:solidFill>
                  <a:schemeClr val="tx1"/>
                </a:solidFill>
              </a:rPr>
              <a:t>Identifier </a:t>
            </a:r>
            <a:r>
              <a:rPr lang="fr-FR" sz="1200" dirty="0" smtClean="0">
                <a:solidFill>
                  <a:schemeClr val="tx1"/>
                </a:solidFill>
              </a:rPr>
              <a:t>les </a:t>
            </a:r>
            <a:r>
              <a:rPr lang="fr-FR" sz="1200" dirty="0">
                <a:solidFill>
                  <a:schemeClr val="tx1"/>
                </a:solidFill>
              </a:rPr>
              <a:t>produits slow-</a:t>
            </a:r>
            <a:r>
              <a:rPr lang="fr-FR" sz="1200" dirty="0" err="1">
                <a:solidFill>
                  <a:schemeClr val="tx1"/>
                </a:solidFill>
              </a:rPr>
              <a:t>moving</a:t>
            </a:r>
            <a:r>
              <a:rPr lang="fr-FR" sz="1200" dirty="0">
                <a:solidFill>
                  <a:schemeClr val="tx1"/>
                </a:solidFill>
              </a:rPr>
              <a:t>.</a:t>
            </a:r>
          </a:p>
          <a:p>
            <a:pPr marL="114300" indent="0">
              <a:buNone/>
            </a:pPr>
            <a:endParaRPr lang="fr-FR" sz="1200" b="1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fr-FR" sz="1200" b="1" dirty="0" smtClean="0">
                <a:solidFill>
                  <a:schemeClr val="tx1"/>
                </a:solidFill>
              </a:rPr>
              <a:t>2) </a:t>
            </a:r>
            <a:r>
              <a:rPr lang="fr-FR" sz="1200" b="1" dirty="0" err="1">
                <a:solidFill>
                  <a:schemeClr val="tx1"/>
                </a:solidFill>
              </a:rPr>
              <a:t>total_sales</a:t>
            </a:r>
            <a:r>
              <a:rPr lang="fr-FR" sz="1200" b="1" dirty="0">
                <a:solidFill>
                  <a:schemeClr val="tx1"/>
                </a:solidFill>
              </a:rPr>
              <a:t> vs </a:t>
            </a:r>
            <a:r>
              <a:rPr lang="fr-FR" sz="1200" b="1" dirty="0" err="1" smtClean="0">
                <a:solidFill>
                  <a:schemeClr val="tx1"/>
                </a:solidFill>
              </a:rPr>
              <a:t>price</a:t>
            </a:r>
            <a:r>
              <a:rPr lang="fr-FR" sz="1200" b="1" dirty="0" smtClean="0">
                <a:solidFill>
                  <a:schemeClr val="tx1"/>
                </a:solidFill>
              </a:rPr>
              <a:t>: -0,13</a:t>
            </a:r>
          </a:p>
          <a:p>
            <a:r>
              <a:rPr lang="fr-FR" sz="1200" dirty="0" smtClean="0">
                <a:solidFill>
                  <a:schemeClr val="tx1"/>
                </a:solidFill>
              </a:rPr>
              <a:t>Les </a:t>
            </a:r>
            <a:r>
              <a:rPr lang="fr-FR" sz="1200" dirty="0">
                <a:solidFill>
                  <a:schemeClr val="tx1"/>
                </a:solidFill>
              </a:rPr>
              <a:t>produits les plus chers se vendent moins (élasticité-prix classique).</a:t>
            </a:r>
          </a:p>
          <a:p>
            <a:pPr marL="114300" indent="0">
              <a:buNone/>
            </a:pPr>
            <a:r>
              <a:rPr lang="fr-FR" sz="1200" b="1" dirty="0" smtClean="0">
                <a:solidFill>
                  <a:schemeClr val="tx1"/>
                </a:solidFill>
              </a:rPr>
              <a:t>Action </a:t>
            </a:r>
            <a:r>
              <a:rPr lang="fr-FR" sz="1200" b="1" dirty="0">
                <a:solidFill>
                  <a:schemeClr val="tx1"/>
                </a:solidFill>
              </a:rPr>
              <a:t>stratégique :</a:t>
            </a:r>
          </a:p>
          <a:p>
            <a:r>
              <a:rPr lang="fr-FR" sz="1200" dirty="0">
                <a:solidFill>
                  <a:schemeClr val="tx1"/>
                </a:solidFill>
              </a:rPr>
              <a:t>Ajuster les prix pour maximiser les ventes sans nuire à la marge.</a:t>
            </a:r>
          </a:p>
          <a:p>
            <a:r>
              <a:rPr lang="fr-FR" sz="1200" dirty="0">
                <a:solidFill>
                  <a:schemeClr val="tx1"/>
                </a:solidFill>
              </a:rPr>
              <a:t>Identifier les produits où le prix n’est pas un frein, afin de valoriser la </a:t>
            </a:r>
            <a:r>
              <a:rPr lang="fr-FR" sz="1200" dirty="0" smtClean="0">
                <a:solidFill>
                  <a:schemeClr val="tx1"/>
                </a:solidFill>
              </a:rPr>
              <a:t>marge.</a:t>
            </a:r>
          </a:p>
          <a:p>
            <a:endParaRPr lang="fr-FR" sz="12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fr-FR" sz="1200" b="1" dirty="0">
                <a:solidFill>
                  <a:schemeClr val="tx1"/>
                </a:solidFill>
              </a:rPr>
              <a:t>3</a:t>
            </a:r>
            <a:r>
              <a:rPr lang="fr-FR" sz="1200" b="1" dirty="0" smtClean="0">
                <a:solidFill>
                  <a:schemeClr val="tx1"/>
                </a:solidFill>
              </a:rPr>
              <a:t>) </a:t>
            </a:r>
            <a:r>
              <a:rPr lang="fr-FR" sz="1200" b="1" dirty="0" err="1">
                <a:solidFill>
                  <a:schemeClr val="tx1"/>
                </a:solidFill>
              </a:rPr>
              <a:t>stock_quantity</a:t>
            </a:r>
            <a:r>
              <a:rPr lang="fr-FR" sz="1200" b="1" dirty="0">
                <a:solidFill>
                  <a:schemeClr val="tx1"/>
                </a:solidFill>
              </a:rPr>
              <a:t> vs </a:t>
            </a:r>
            <a:r>
              <a:rPr lang="fr-FR" sz="1200" b="1" dirty="0" err="1" smtClean="0">
                <a:solidFill>
                  <a:schemeClr val="tx1"/>
                </a:solidFill>
              </a:rPr>
              <a:t>price</a:t>
            </a:r>
            <a:r>
              <a:rPr lang="fr-FR" sz="1200" b="1" dirty="0" smtClean="0">
                <a:solidFill>
                  <a:schemeClr val="tx1"/>
                </a:solidFill>
              </a:rPr>
              <a:t>: 0,01</a:t>
            </a:r>
            <a:endParaRPr lang="fr-FR" sz="1200" dirty="0">
              <a:solidFill>
                <a:schemeClr val="tx1"/>
              </a:solidFill>
            </a:endParaRPr>
          </a:p>
          <a:p>
            <a:r>
              <a:rPr lang="fr-FR" sz="1200" dirty="0" smtClean="0">
                <a:solidFill>
                  <a:schemeClr val="tx1"/>
                </a:solidFill>
              </a:rPr>
              <a:t>Les </a:t>
            </a:r>
            <a:r>
              <a:rPr lang="fr-FR" sz="1200" dirty="0">
                <a:solidFill>
                  <a:schemeClr val="tx1"/>
                </a:solidFill>
              </a:rPr>
              <a:t>produits cher et moins chers sont stockés en quantités variées sans tendance particulière.</a:t>
            </a:r>
          </a:p>
          <a:p>
            <a:r>
              <a:rPr lang="fr-FR" sz="1200" dirty="0">
                <a:solidFill>
                  <a:schemeClr val="tx1"/>
                </a:solidFill>
              </a:rPr>
              <a:t>Le prix n’influence pas la quantité en stock dans ton catalogue.</a:t>
            </a:r>
          </a:p>
          <a:p>
            <a:pPr marL="114300" indent="0">
              <a:buNone/>
            </a:pPr>
            <a:r>
              <a:rPr lang="fr-FR" sz="1200" b="1" dirty="0" smtClean="0">
                <a:solidFill>
                  <a:schemeClr val="tx1"/>
                </a:solidFill>
              </a:rPr>
              <a:t>Action </a:t>
            </a:r>
            <a:r>
              <a:rPr lang="fr-FR" sz="1200" b="1" dirty="0">
                <a:solidFill>
                  <a:schemeClr val="tx1"/>
                </a:solidFill>
              </a:rPr>
              <a:t>stratégique :</a:t>
            </a:r>
          </a:p>
          <a:p>
            <a:r>
              <a:rPr lang="fr-FR" sz="1200" dirty="0">
                <a:solidFill>
                  <a:schemeClr val="tx1"/>
                </a:solidFill>
              </a:rPr>
              <a:t>Adapter la gestion des stocks selon le type de produit et le prix.</a:t>
            </a:r>
          </a:p>
          <a:p>
            <a:r>
              <a:rPr lang="fr-FR" sz="1200" dirty="0">
                <a:solidFill>
                  <a:schemeClr val="tx1"/>
                </a:solidFill>
              </a:rPr>
              <a:t>Optimiser l’immobilisation de capital.</a:t>
            </a:r>
          </a:p>
          <a:p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4" name="Google Shape;87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2000" b="1" dirty="0">
                <a:solidFill>
                  <a:schemeClr val="bg1"/>
                </a:solidFill>
              </a:rPr>
              <a:t>Analyse des corrélations entre les variables stock, sales et </a:t>
            </a:r>
            <a:r>
              <a:rPr lang="fr-FR" sz="2000" b="1" dirty="0" err="1" smtClean="0">
                <a:solidFill>
                  <a:schemeClr val="bg1"/>
                </a:solidFill>
              </a:rPr>
              <a:t>price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51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741325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168625"/>
            <a:ext cx="703662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buClr>
                <a:srgbClr val="999999"/>
              </a:buClr>
            </a:pPr>
            <a:r>
              <a:rPr lang="fr-FR" sz="2400" b="1" dirty="0">
                <a:solidFill>
                  <a:schemeClr val="bg1"/>
                </a:solidFill>
                <a:latin typeface="+mj-lt"/>
                <a:ea typeface="Montserrat"/>
                <a:cs typeface="Montserrat"/>
                <a:sym typeface="Montserrat"/>
              </a:rPr>
              <a:t>Limites éventuelles de l’analyse </a:t>
            </a: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414000" y="1660802"/>
            <a:ext cx="8316000" cy="259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fr-FR" sz="1600" dirty="0" smtClean="0">
                <a:solidFill>
                  <a:schemeClr val="tx1"/>
                </a:solidFill>
              </a:rPr>
              <a:t>Données peu </a:t>
            </a:r>
            <a:r>
              <a:rPr lang="fr-FR" sz="1600" dirty="0">
                <a:solidFill>
                  <a:schemeClr val="tx1"/>
                </a:solidFill>
              </a:rPr>
              <a:t>détaillées</a:t>
            </a:r>
          </a:p>
          <a:p>
            <a:r>
              <a:rPr lang="fr-FR" sz="1600" dirty="0">
                <a:solidFill>
                  <a:schemeClr val="tx1"/>
                </a:solidFill>
              </a:rPr>
              <a:t>Absence de suivi complet des mouvements de stock</a:t>
            </a:r>
          </a:p>
          <a:p>
            <a:r>
              <a:rPr lang="fr-FR" sz="1600" dirty="0">
                <a:solidFill>
                  <a:schemeClr val="tx1"/>
                </a:solidFill>
              </a:rPr>
              <a:t>Effets promotionnels non identifiables</a:t>
            </a:r>
          </a:p>
          <a:p>
            <a:r>
              <a:rPr lang="fr-FR" sz="1600" dirty="0">
                <a:solidFill>
                  <a:schemeClr val="tx1"/>
                </a:solidFill>
              </a:rPr>
              <a:t>Analyse statique, non prédictive</a:t>
            </a:r>
          </a:p>
          <a:p>
            <a:pPr marL="114300" indent="0">
              <a:buNone/>
            </a:pPr>
            <a:endParaRPr lang="fr-FR" sz="16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fr-FR" sz="1600" dirty="0" smtClean="0">
                <a:solidFill>
                  <a:schemeClr val="tx1"/>
                </a:solidFill>
              </a:rPr>
              <a:t>Ces </a:t>
            </a:r>
            <a:r>
              <a:rPr lang="fr-FR" sz="1600" dirty="0">
                <a:solidFill>
                  <a:schemeClr val="tx1"/>
                </a:solidFill>
              </a:rPr>
              <a:t>limites montrent la nécessité :</a:t>
            </a:r>
          </a:p>
          <a:p>
            <a:r>
              <a:rPr lang="fr-FR" sz="1600" dirty="0">
                <a:solidFill>
                  <a:schemeClr val="tx1"/>
                </a:solidFill>
              </a:rPr>
              <a:t>d’un ERP intégré</a:t>
            </a:r>
          </a:p>
          <a:p>
            <a:r>
              <a:rPr lang="fr-FR" sz="1600" dirty="0">
                <a:solidFill>
                  <a:schemeClr val="tx1"/>
                </a:solidFill>
              </a:rPr>
              <a:t>d’une meilleure structuration temporelle des données</a:t>
            </a:r>
          </a:p>
          <a:p>
            <a:r>
              <a:rPr lang="fr-FR" sz="1600" dirty="0">
                <a:solidFill>
                  <a:schemeClr val="tx1"/>
                </a:solidFill>
              </a:rPr>
              <a:t>et de la traçabilité des flux.</a:t>
            </a:r>
          </a:p>
          <a:p>
            <a:pPr lvl="0">
              <a:buClr>
                <a:srgbClr val="999999"/>
              </a:buClr>
              <a:buFont typeface="Montserrat"/>
              <a:buChar char="●"/>
            </a:pPr>
            <a:endParaRPr lang="fr-FR" sz="16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741325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1972018" y="168625"/>
            <a:ext cx="549741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b="1" dirty="0">
                <a:solidFill>
                  <a:srgbClr val="F3F3F3"/>
                </a:solidFill>
                <a:latin typeface="+mj-lt"/>
                <a:ea typeface="Montserrat"/>
                <a:cs typeface="Montserrat"/>
                <a:sym typeface="Montserrat"/>
              </a:rPr>
              <a:t>Point sur les compétences apprises</a:t>
            </a:r>
            <a:endParaRPr sz="2400" b="1" dirty="0">
              <a:latin typeface="+mj-lt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17793" y="1112704"/>
            <a:ext cx="8020279" cy="3832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fr-FR" sz="1300" b="1" dirty="0" smtClean="0">
                <a:solidFill>
                  <a:schemeClr val="tx1"/>
                </a:solidFill>
              </a:rPr>
              <a:t>1.Qu’est-ce </a:t>
            </a:r>
            <a:r>
              <a:rPr lang="fr-FR" sz="1300" b="1" dirty="0">
                <a:solidFill>
                  <a:schemeClr val="tx1"/>
                </a:solidFill>
              </a:rPr>
              <a:t>qui s’est bien passé ?</a:t>
            </a:r>
          </a:p>
          <a:p>
            <a:r>
              <a:rPr lang="fr-FR" sz="1300" dirty="0">
                <a:solidFill>
                  <a:schemeClr val="tx1"/>
                </a:solidFill>
              </a:rPr>
              <a:t>J’ai réussi à rapprocher efficacement les différentes sources de données (ERP, </a:t>
            </a:r>
            <a:r>
              <a:rPr lang="fr-FR" sz="1300" dirty="0" smtClean="0">
                <a:solidFill>
                  <a:schemeClr val="tx1"/>
                </a:solidFill>
              </a:rPr>
              <a:t>Web </a:t>
            </a:r>
            <a:r>
              <a:rPr lang="fr-FR" sz="1300" dirty="0">
                <a:solidFill>
                  <a:schemeClr val="tx1"/>
                </a:solidFill>
              </a:rPr>
              <a:t>et table de liaison) et à créer une base consolidée exploitable.</a:t>
            </a:r>
          </a:p>
          <a:p>
            <a:r>
              <a:rPr lang="fr-FR" sz="1300" dirty="0">
                <a:solidFill>
                  <a:schemeClr val="tx1"/>
                </a:solidFill>
              </a:rPr>
              <a:t>J’ai pu identifier plusieurs incohérences et erreurs dans les données, ce qui permet d’avoir une vue plus fiable pour les analyses du CODIR.</a:t>
            </a:r>
          </a:p>
          <a:p>
            <a:r>
              <a:rPr lang="fr-FR" sz="1300" dirty="0">
                <a:solidFill>
                  <a:schemeClr val="tx1"/>
                </a:solidFill>
              </a:rPr>
              <a:t>Les visualisations et calculs de chiffre d’affaires par produit et totaux généraux ont été réalisés correctement et rapidement.</a:t>
            </a:r>
          </a:p>
          <a:p>
            <a:pPr marL="114300" indent="0">
              <a:buNone/>
            </a:pPr>
            <a:endParaRPr lang="fr-FR" sz="1300" b="1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fr-FR" sz="1300" b="1" dirty="0" smtClean="0">
                <a:solidFill>
                  <a:schemeClr val="tx1"/>
                </a:solidFill>
              </a:rPr>
              <a:t>2</a:t>
            </a:r>
            <a:r>
              <a:rPr lang="fr-FR" sz="1300" b="1" dirty="0">
                <a:solidFill>
                  <a:schemeClr val="tx1"/>
                </a:solidFill>
              </a:rPr>
              <a:t>. Qu’est-ce que vous avez trouvé le plus difficile ?</a:t>
            </a:r>
          </a:p>
          <a:p>
            <a:r>
              <a:rPr lang="fr-FR" sz="1300" dirty="0" smtClean="0">
                <a:solidFill>
                  <a:schemeClr val="tx1"/>
                </a:solidFill>
              </a:rPr>
              <a:t>Détecter </a:t>
            </a:r>
            <a:r>
              <a:rPr lang="fr-FR" sz="1300" dirty="0">
                <a:solidFill>
                  <a:schemeClr val="tx1"/>
                </a:solidFill>
              </a:rPr>
              <a:t>certaines valeurs aberrantes ou incohérences subtiles (ex. marges négatives, stock incohérent) a demandé beaucoup de vigilance et de vérifications croisées.</a:t>
            </a:r>
          </a:p>
          <a:p>
            <a:r>
              <a:rPr lang="fr-FR" sz="1300" dirty="0">
                <a:solidFill>
                  <a:schemeClr val="tx1"/>
                </a:solidFill>
              </a:rPr>
              <a:t>Travailler avec des fichiers hétérogènes et parfois partiellement remplis a ralenti certaines étapes et rendu la consolidation plus complexe.</a:t>
            </a:r>
          </a:p>
          <a:p>
            <a:pPr marL="114300" indent="0">
              <a:buNone/>
            </a:pPr>
            <a:endParaRPr lang="fr-FR" sz="1300" dirty="0" smtClean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fr-FR" sz="1300" dirty="0" smtClean="0">
                <a:solidFill>
                  <a:schemeClr val="tx1"/>
                </a:solidFill>
              </a:rPr>
              <a:t>3</a:t>
            </a:r>
            <a:r>
              <a:rPr lang="fr-FR" sz="1300" dirty="0">
                <a:solidFill>
                  <a:schemeClr val="tx1"/>
                </a:solidFill>
              </a:rPr>
              <a:t>. </a:t>
            </a:r>
            <a:r>
              <a:rPr lang="fr-FR" sz="1300" b="1" dirty="0">
                <a:solidFill>
                  <a:schemeClr val="tx1"/>
                </a:solidFill>
              </a:rPr>
              <a:t>Sur quelles tâches pensez-vous avoir besoin de plus d’entraînement </a:t>
            </a:r>
            <a:r>
              <a:rPr lang="fr-FR" sz="1300" b="1" dirty="0" smtClean="0">
                <a:solidFill>
                  <a:schemeClr val="tx1"/>
                </a:solidFill>
              </a:rPr>
              <a:t>?</a:t>
            </a:r>
          </a:p>
          <a:p>
            <a:r>
              <a:rPr lang="fr-FR" sz="1300" dirty="0" smtClean="0">
                <a:solidFill>
                  <a:schemeClr val="tx1"/>
                </a:solidFill>
              </a:rPr>
              <a:t>Travailler plus de projets avec Python pour bien le maitriser,</a:t>
            </a:r>
            <a:endParaRPr lang="fr-FR" sz="13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1419</Words>
  <Application>Microsoft Office PowerPoint</Application>
  <PresentationFormat>Affichage à l'écran (16:9)</PresentationFormat>
  <Paragraphs>223</Paragraphs>
  <Slides>25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Arial</vt:lpstr>
      <vt:lpstr>Montserrat</vt:lpstr>
      <vt:lpstr>Wingdings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Analyses univariées du prix</vt:lpstr>
      <vt:lpstr>Présentation PowerPoint</vt:lpstr>
      <vt:lpstr>Présentation PowerPoint</vt:lpstr>
      <vt:lpstr>Graphique du CA par produit (Top 20 produits)</vt:lpstr>
      <vt:lpstr>Commentaires sur le graphique du CA par produit (Top 20 produits)</vt:lpstr>
      <vt:lpstr>Présentation PowerPoint</vt:lpstr>
      <vt:lpstr>   Analyses complémentaires Les ventes en quantité   </vt:lpstr>
      <vt:lpstr>Présentation PowerPoint</vt:lpstr>
      <vt:lpstr>    Analyses complémentaires Analyse des stocks    </vt:lpstr>
      <vt:lpstr>Présentation PowerPoint</vt:lpstr>
      <vt:lpstr>Présentation PowerPoint</vt:lpstr>
      <vt:lpstr>Présentation PowerPoint</vt:lpstr>
      <vt:lpstr>Présentation PowerPoint</vt:lpstr>
      <vt:lpstr>Analyse des corrélations entre les variables stock, sales et price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salam</cp:lastModifiedBy>
  <cp:revision>30</cp:revision>
  <dcterms:modified xsi:type="dcterms:W3CDTF">2025-12-08T17:03:54Z</dcterms:modified>
</cp:coreProperties>
</file>